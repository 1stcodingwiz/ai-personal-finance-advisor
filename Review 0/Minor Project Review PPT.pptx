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79e68258a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g279e68258ac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79e68258a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g279e68258ac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79e68258a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g279e68258ac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79e68258a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g279e68258ac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79e68258ac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g279e68258ac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79e68258ac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g279e68258ac_0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79e68258ac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279e68258ac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79e68258a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g279e68258ac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79e68258a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g279e68258ac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79e68258ac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g279e68258ac_0_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79e68258ac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279e68258ac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79e68258ac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g279e68258ac_0_1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79e68258ac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g279e68258ac_0_1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79e68258ac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g279e68258ac_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79e68258ac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g279e68258ac_0_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79e68258ac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g279e68258ac_0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79e68258ac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g279e68258ac_0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f001e89df4_3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g2f001e89df4_3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f01c1741e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g2f01c1741e3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f01c1741e3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g2f01c1741e3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79e68258a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g279e68258ac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79e68258ac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g279e68258ac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ph type="ctrTitle"/>
          </p:nvPr>
        </p:nvSpPr>
        <p:spPr>
          <a:xfrm>
            <a:off x="1524000" y="1600200"/>
            <a:ext cx="9144000" cy="2077948"/>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150000"/>
              </a:lnSpc>
              <a:spcBef>
                <a:spcPts val="0"/>
              </a:spcBef>
              <a:spcAft>
                <a:spcPts val="0"/>
              </a:spcAft>
              <a:buClr>
                <a:schemeClr val="dk1"/>
              </a:buClr>
              <a:buSzPct val="100000"/>
              <a:buFont typeface="Times New Roman"/>
              <a:buNone/>
            </a:pPr>
            <a:br>
              <a:rPr lang="en-US" sz="4000">
                <a:latin typeface="Times New Roman"/>
                <a:ea typeface="Times New Roman"/>
                <a:cs typeface="Times New Roman"/>
                <a:sym typeface="Times New Roman"/>
              </a:rPr>
            </a:br>
            <a:r>
              <a:rPr lang="en-US" sz="2700">
                <a:latin typeface="Times New Roman"/>
                <a:ea typeface="Times New Roman"/>
                <a:cs typeface="Times New Roman"/>
                <a:sym typeface="Times New Roman"/>
              </a:rPr>
              <a:t>ZEROTH REVIEW</a:t>
            </a:r>
            <a:br>
              <a:rPr lang="en-US" sz="4000">
                <a:latin typeface="Times New Roman"/>
                <a:ea typeface="Times New Roman"/>
                <a:cs typeface="Times New Roman"/>
                <a:sym typeface="Times New Roman"/>
              </a:rPr>
            </a:br>
            <a:r>
              <a:rPr lang="en-US" sz="4000">
                <a:latin typeface="Times New Roman"/>
                <a:ea typeface="Times New Roman"/>
                <a:cs typeface="Times New Roman"/>
                <a:sym typeface="Times New Roman"/>
              </a:rPr>
              <a:t>AI-Based Personal Finance Advisor: </a:t>
            </a:r>
            <a:br>
              <a:rPr lang="en-US" sz="4800">
                <a:latin typeface="Times New Roman"/>
                <a:ea typeface="Times New Roman"/>
                <a:cs typeface="Times New Roman"/>
                <a:sym typeface="Times New Roman"/>
              </a:rPr>
            </a:br>
            <a:r>
              <a:rPr lang="en-US" sz="2400">
                <a:latin typeface="Times New Roman"/>
                <a:ea typeface="Times New Roman"/>
                <a:cs typeface="Times New Roman"/>
                <a:sym typeface="Times New Roman"/>
              </a:rPr>
              <a:t>Project Category:</a:t>
            </a:r>
            <a:r>
              <a:rPr lang="en-US" sz="1800">
                <a:latin typeface="Times New Roman"/>
                <a:ea typeface="Times New Roman"/>
                <a:cs typeface="Times New Roman"/>
                <a:sym typeface="Times New Roman"/>
              </a:rPr>
              <a:t> RESEARCH</a:t>
            </a:r>
            <a:endParaRPr sz="4800">
              <a:latin typeface="Times New Roman"/>
              <a:ea typeface="Times New Roman"/>
              <a:cs typeface="Times New Roman"/>
              <a:sym typeface="Times New Roman"/>
            </a:endParaRPr>
          </a:p>
        </p:txBody>
      </p:sp>
      <p:sp>
        <p:nvSpPr>
          <p:cNvPr id="85" name="Google Shape;85;p13"/>
          <p:cNvSpPr txBox="1"/>
          <p:nvPr>
            <p:ph idx="1" type="subTitle"/>
          </p:nvPr>
        </p:nvSpPr>
        <p:spPr>
          <a:xfrm>
            <a:off x="50" y="4325425"/>
            <a:ext cx="12192000" cy="25326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latin typeface="Times New Roman"/>
              <a:ea typeface="Times New Roman"/>
              <a:cs typeface="Times New Roman"/>
              <a:sym typeface="Times New Roman"/>
            </a:endParaRPr>
          </a:p>
          <a:p>
            <a:pPr indent="0" lvl="0" marL="0" rtl="0" algn="ctr">
              <a:lnSpc>
                <a:spcPct val="90000"/>
              </a:lnSpc>
              <a:spcBef>
                <a:spcPts val="1000"/>
              </a:spcBef>
              <a:spcAft>
                <a:spcPts val="0"/>
              </a:spcAft>
              <a:buClr>
                <a:schemeClr val="dk1"/>
              </a:buClr>
              <a:buSzPts val="2400"/>
              <a:buNone/>
            </a:pPr>
            <a:r>
              <a:rPr lang="en-US">
                <a:latin typeface="Times New Roman"/>
                <a:ea typeface="Times New Roman"/>
                <a:cs typeface="Times New Roman"/>
                <a:sym typeface="Times New Roman"/>
              </a:rPr>
              <a:t>  Guide Name                                                                   Student Name &amp; Registration Number:</a:t>
            </a:r>
            <a:endParaRPr/>
          </a:p>
          <a:p>
            <a:pPr indent="0" lvl="0" marL="0" rtl="0" algn="ctr">
              <a:lnSpc>
                <a:spcPct val="90000"/>
              </a:lnSpc>
              <a:spcBef>
                <a:spcPts val="1000"/>
              </a:spcBef>
              <a:spcAft>
                <a:spcPts val="0"/>
              </a:spcAft>
              <a:buClr>
                <a:schemeClr val="dk1"/>
              </a:buClr>
              <a:buSzPts val="2400"/>
              <a:buNone/>
            </a:pPr>
            <a:r>
              <a:rPr lang="en-US">
                <a:latin typeface="Times New Roman"/>
                <a:ea typeface="Times New Roman"/>
                <a:cs typeface="Times New Roman"/>
                <a:sym typeface="Times New Roman"/>
              </a:rPr>
              <a:t>Mrs. Vijayalakshmi V                                             Rachit Sood [RA2111028010110]</a:t>
            </a:r>
            <a:endParaRPr>
              <a:latin typeface="Times New Roman"/>
              <a:ea typeface="Times New Roman"/>
              <a:cs typeface="Times New Roman"/>
              <a:sym typeface="Times New Roman"/>
            </a:endParaRPr>
          </a:p>
          <a:p>
            <a:pPr indent="0" lvl="0" marL="0" rtl="0" algn="ctr">
              <a:lnSpc>
                <a:spcPct val="90000"/>
              </a:lnSpc>
              <a:spcBef>
                <a:spcPts val="1000"/>
              </a:spcBef>
              <a:spcAft>
                <a:spcPts val="0"/>
              </a:spcAft>
              <a:buClr>
                <a:schemeClr val="dk1"/>
              </a:buClr>
              <a:buSzPts val="2400"/>
              <a:buNone/>
            </a:pPr>
            <a:r>
              <a:rPr lang="en-US">
                <a:latin typeface="Times New Roman"/>
                <a:ea typeface="Times New Roman"/>
                <a:cs typeface="Times New Roman"/>
                <a:sym typeface="Times New Roman"/>
              </a:rPr>
              <a:t>                                                                                   Papai Mondal [RA2111028010116]</a:t>
            </a:r>
            <a:endParaRPr>
              <a:latin typeface="Times New Roman"/>
              <a:ea typeface="Times New Roman"/>
              <a:cs typeface="Times New Roman"/>
              <a:sym typeface="Times New Roman"/>
            </a:endParaRPr>
          </a:p>
          <a:p>
            <a:pPr indent="0" lvl="0" marL="0" rtl="0" algn="ctr">
              <a:lnSpc>
                <a:spcPct val="90000"/>
              </a:lnSpc>
              <a:spcBef>
                <a:spcPts val="1000"/>
              </a:spcBef>
              <a:spcAft>
                <a:spcPts val="0"/>
              </a:spcAft>
              <a:buClr>
                <a:schemeClr val="dk1"/>
              </a:buClr>
              <a:buSzPts val="2400"/>
              <a:buNone/>
            </a:pPr>
            <a:r>
              <a:rPr lang="en-US">
                <a:latin typeface="Times New Roman"/>
                <a:ea typeface="Times New Roman"/>
                <a:cs typeface="Times New Roman"/>
                <a:sym typeface="Times New Roman"/>
              </a:rPr>
              <a:t>                                                                                         Asmi Shrivastava [RA2111028010119] </a:t>
            </a:r>
            <a:endParaRPr>
              <a:latin typeface="Times New Roman"/>
              <a:ea typeface="Times New Roman"/>
              <a:cs typeface="Times New Roman"/>
              <a:sym typeface="Times New Roman"/>
            </a:endParaRPr>
          </a:p>
        </p:txBody>
      </p:sp>
      <p:pic>
        <p:nvPicPr>
          <p:cNvPr descr="SRM Institute of Science and Technology - Wikipedia" id="86" name="Google Shape;86;p13"/>
          <p:cNvPicPr preferRelativeResize="0"/>
          <p:nvPr/>
        </p:nvPicPr>
        <p:blipFill rotWithShape="1">
          <a:blip r:embed="rId3">
            <a:alphaModFix/>
          </a:blip>
          <a:srcRect b="0" l="0" r="0" t="0"/>
          <a:stretch/>
        </p:blipFill>
        <p:spPr>
          <a:xfrm>
            <a:off x="10450286" y="71919"/>
            <a:ext cx="1661019" cy="165576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2717400" y="236950"/>
            <a:ext cx="67572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Abstract</a:t>
            </a:r>
            <a:endParaRPr/>
          </a:p>
        </p:txBody>
      </p:sp>
      <p:sp>
        <p:nvSpPr>
          <p:cNvPr id="92" name="Google Shape;92;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1200"/>
              </a:spcBef>
              <a:spcAft>
                <a:spcPts val="1200"/>
              </a:spcAft>
              <a:buClr>
                <a:schemeClr val="dk1"/>
              </a:buClr>
              <a:buSzPts val="1100"/>
              <a:buFont typeface="Arial"/>
              <a:buNone/>
            </a:pPr>
            <a:r>
              <a:rPr lang="en-US" sz="2100">
                <a:solidFill>
                  <a:srgbClr val="172B4D"/>
                </a:solidFill>
                <a:highlight>
                  <a:srgbClr val="FFFFFF"/>
                </a:highlight>
                <a:latin typeface="Arial"/>
                <a:ea typeface="Arial"/>
                <a:cs typeface="Arial"/>
                <a:sym typeface="Arial"/>
              </a:rPr>
              <a:t>The creation of an AI-powered personal finance advisor seeks to offer consumers support for management and planning. The system evaluates users' goals, spending patterns, and financial information using machine learning and artificial intelligence technology The software that employs model learning and machine learning along with artificial intelligence analyzes the customers' objectives, their purchasing habits, and the financial information to provide tailored recommendations. AWS Lambda , Amazon S3 , DynamoDB these are just few of the services that this project makes use of. These services give the application's efficiency, security, and scalability. The AI-based personal finance advisor democratizes access to high-quality financial advice by providing users with real-time insights and practical assistance to help them make informed financial decisions.</a:t>
            </a:r>
            <a:endParaRPr sz="3700"/>
          </a:p>
        </p:txBody>
      </p:sp>
      <p:pic>
        <p:nvPicPr>
          <p:cNvPr descr="SRM Institute of Science and Technology - Wikipedia" id="93" name="Google Shape;93;p14"/>
          <p:cNvPicPr preferRelativeResize="0"/>
          <p:nvPr/>
        </p:nvPicPr>
        <p:blipFill rotWithShape="1">
          <a:blip r:embed="rId3">
            <a:alphaModFix/>
          </a:blip>
          <a:srcRect b="0" l="0" r="0" t="0"/>
          <a:stretch/>
        </p:blipFill>
        <p:spPr>
          <a:xfrm>
            <a:off x="10450286" y="71919"/>
            <a:ext cx="1661019" cy="165576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2717400" y="223025"/>
            <a:ext cx="6757200" cy="1325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Introduction</a:t>
            </a:r>
            <a:endParaRPr/>
          </a:p>
        </p:txBody>
      </p:sp>
      <p:sp>
        <p:nvSpPr>
          <p:cNvPr id="99" name="Google Shape;99;p15"/>
          <p:cNvSpPr txBox="1"/>
          <p:nvPr>
            <p:ph idx="1" type="body"/>
          </p:nvPr>
        </p:nvSpPr>
        <p:spPr>
          <a:xfrm>
            <a:off x="838200" y="1474900"/>
            <a:ext cx="10515600" cy="49524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0"/>
              </a:spcBef>
              <a:spcAft>
                <a:spcPts val="0"/>
              </a:spcAft>
              <a:buClr>
                <a:schemeClr val="dk1"/>
              </a:buClr>
              <a:buSzPts val="1100"/>
              <a:buFont typeface="Arial"/>
              <a:buNone/>
            </a:pPr>
            <a:r>
              <a:rPr lang="en-US" sz="2100">
                <a:solidFill>
                  <a:srgbClr val="172B4D"/>
                </a:solidFill>
                <a:highlight>
                  <a:srgbClr val="FFFFFF"/>
                </a:highlight>
                <a:latin typeface="Arial"/>
                <a:ea typeface="Arial"/>
                <a:cs typeface="Arial"/>
                <a:sym typeface="Arial"/>
              </a:rPr>
              <a:t>Effectively managing personal money has grown more difficult in the fast-paced world of today. Financial stress and uncertainty are caused by the fact that many people find it difficult to maintain track of their spending, savings, and investments. Although beneficial, traditional financial advising services can be costly and unavailable to a large number of people. The goal of this project is to create a personal finance advisor powered by artificial intelligence and cloud computing that can offer thorough financial advice.</a:t>
            </a:r>
            <a:endParaRPr sz="2100">
              <a:solidFill>
                <a:srgbClr val="172B4D"/>
              </a:solidFill>
              <a:highlight>
                <a:srgbClr val="FFFFFF"/>
              </a:highlight>
              <a:latin typeface="Arial"/>
              <a:ea typeface="Arial"/>
              <a:cs typeface="Arial"/>
              <a:sym typeface="Arial"/>
            </a:endParaRPr>
          </a:p>
          <a:p>
            <a:pPr indent="0" lvl="0" marL="0" rtl="0" algn="just">
              <a:lnSpc>
                <a:spcPct val="115000"/>
              </a:lnSpc>
              <a:spcBef>
                <a:spcPts val="0"/>
              </a:spcBef>
              <a:spcAft>
                <a:spcPts val="0"/>
              </a:spcAft>
              <a:buClr>
                <a:schemeClr val="dk1"/>
              </a:buClr>
              <a:buSzPts val="1100"/>
              <a:buFont typeface="Arial"/>
              <a:buNone/>
            </a:pPr>
            <a:r>
              <a:t/>
            </a:r>
            <a:endParaRPr sz="2100">
              <a:solidFill>
                <a:srgbClr val="172B4D"/>
              </a:solidFill>
              <a:highlight>
                <a:srgbClr val="FFFFFF"/>
              </a:highlight>
              <a:latin typeface="Arial"/>
              <a:ea typeface="Arial"/>
              <a:cs typeface="Arial"/>
              <a:sym typeface="Arial"/>
            </a:endParaRPr>
          </a:p>
          <a:p>
            <a:pPr indent="0" lvl="0" marL="0" rtl="0" algn="just">
              <a:lnSpc>
                <a:spcPct val="115000"/>
              </a:lnSpc>
              <a:spcBef>
                <a:spcPts val="0"/>
              </a:spcBef>
              <a:spcAft>
                <a:spcPts val="0"/>
              </a:spcAft>
              <a:buClr>
                <a:schemeClr val="dk1"/>
              </a:buClr>
              <a:buSzPts val="1100"/>
              <a:buFont typeface="Arial"/>
              <a:buNone/>
            </a:pPr>
            <a:r>
              <a:rPr lang="en-US" sz="2100">
                <a:solidFill>
                  <a:srgbClr val="172B4D"/>
                </a:solidFill>
                <a:highlight>
                  <a:srgbClr val="FFFFFF"/>
                </a:highlight>
                <a:latin typeface="Arial"/>
                <a:ea typeface="Arial"/>
                <a:cs typeface="Arial"/>
                <a:sym typeface="Arial"/>
              </a:rPr>
              <a:t>To provide personalized advise, the AI-powered personal finance advisor examines a user's income, spending patterns, long-term objectives, and financial habits. The system makes recommendations for appropriate investment opportunities, suggests budget adjustments, and recognizes spending patterns using sophisticated machine learning algorithms. Through ongoing learning from user input, the adviser is able to adjust to evolving financial situations and provide up-to-date recommendations.</a:t>
            </a:r>
            <a:endParaRPr sz="2100">
              <a:solidFill>
                <a:srgbClr val="172B4D"/>
              </a:solidFill>
              <a:highlight>
                <a:srgbClr val="FFFFFF"/>
              </a:highlight>
              <a:latin typeface="Arial"/>
              <a:ea typeface="Arial"/>
              <a:cs typeface="Arial"/>
              <a:sym typeface="Arial"/>
            </a:endParaRPr>
          </a:p>
          <a:p>
            <a:pPr indent="-50800" lvl="0" marL="228600" rtl="0" algn="l">
              <a:lnSpc>
                <a:spcPct val="90000"/>
              </a:lnSpc>
              <a:spcBef>
                <a:spcPts val="0"/>
              </a:spcBef>
              <a:spcAft>
                <a:spcPts val="0"/>
              </a:spcAft>
              <a:buClr>
                <a:schemeClr val="dk1"/>
              </a:buClr>
              <a:buSzPts val="2800"/>
              <a:buNone/>
            </a:pPr>
            <a:r>
              <a:t/>
            </a:r>
            <a:endParaRPr/>
          </a:p>
        </p:txBody>
      </p:sp>
      <p:pic>
        <p:nvPicPr>
          <p:cNvPr descr="SRM Institute of Science and Technology - Wikipedia" id="100" name="Google Shape;100;p15"/>
          <p:cNvPicPr preferRelativeResize="0"/>
          <p:nvPr/>
        </p:nvPicPr>
        <p:blipFill rotWithShape="1">
          <a:blip r:embed="rId3">
            <a:alphaModFix/>
          </a:blip>
          <a:srcRect b="0" l="0" r="0" t="0"/>
          <a:stretch/>
        </p:blipFill>
        <p:spPr>
          <a:xfrm>
            <a:off x="10638341" y="0"/>
            <a:ext cx="1553659" cy="15487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2717400" y="236950"/>
            <a:ext cx="67572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Introduction </a:t>
            </a:r>
            <a:endParaRPr/>
          </a:p>
        </p:txBody>
      </p:sp>
      <p:sp>
        <p:nvSpPr>
          <p:cNvPr id="106" name="Google Shape;106;p16"/>
          <p:cNvSpPr txBox="1"/>
          <p:nvPr>
            <p:ph idx="1" type="body"/>
          </p:nvPr>
        </p:nvSpPr>
        <p:spPr>
          <a:xfrm>
            <a:off x="838200" y="1727675"/>
            <a:ext cx="10515600" cy="43512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0"/>
              </a:spcBef>
              <a:spcAft>
                <a:spcPts val="0"/>
              </a:spcAft>
              <a:buClr>
                <a:schemeClr val="dk1"/>
              </a:buClr>
              <a:buSzPts val="1100"/>
              <a:buFont typeface="Arial"/>
              <a:buNone/>
            </a:pPr>
            <a:r>
              <a:rPr lang="en-US" sz="2100">
                <a:solidFill>
                  <a:srgbClr val="172B4D"/>
                </a:solidFill>
                <a:highlight>
                  <a:srgbClr val="FFFFFF"/>
                </a:highlight>
                <a:latin typeface="Arial"/>
                <a:ea typeface="Arial"/>
                <a:cs typeface="Arial"/>
                <a:sym typeface="Arial"/>
              </a:rPr>
              <a:t>Several AWS services are used to guarantee the application's resilience and effectiveness. Serverless computing, made possible by AWS Lambda, enables an application to grow easily and manage several user requests at once. User data is securely and scalably stored via Amazon S3, and dependable and effective database management is guaranteed by Amazon RDS. Furthermore, sensitive financial data is protected by AWS security measures, upholding consumer confidence and adhering to data protection laws.</a:t>
            </a:r>
            <a:endParaRPr sz="2100">
              <a:solidFill>
                <a:srgbClr val="172B4D"/>
              </a:solidFill>
              <a:highlight>
                <a:srgbClr val="FFFFFF"/>
              </a:highlight>
              <a:latin typeface="Arial"/>
              <a:ea typeface="Arial"/>
              <a:cs typeface="Arial"/>
              <a:sym typeface="Arial"/>
            </a:endParaRPr>
          </a:p>
          <a:p>
            <a:pPr indent="0" lvl="0" marL="0" rtl="0" algn="just">
              <a:lnSpc>
                <a:spcPct val="115000"/>
              </a:lnSpc>
              <a:spcBef>
                <a:spcPts val="0"/>
              </a:spcBef>
              <a:spcAft>
                <a:spcPts val="0"/>
              </a:spcAft>
              <a:buClr>
                <a:schemeClr val="dk1"/>
              </a:buClr>
              <a:buSzPts val="1100"/>
              <a:buFont typeface="Arial"/>
              <a:buNone/>
            </a:pPr>
            <a:r>
              <a:t/>
            </a:r>
            <a:endParaRPr sz="2100">
              <a:solidFill>
                <a:srgbClr val="172B4D"/>
              </a:solidFill>
              <a:highlight>
                <a:srgbClr val="FFFFFF"/>
              </a:highlight>
              <a:latin typeface="Arial"/>
              <a:ea typeface="Arial"/>
              <a:cs typeface="Arial"/>
              <a:sym typeface="Arial"/>
            </a:endParaRPr>
          </a:p>
          <a:p>
            <a:pPr indent="0" lvl="0" marL="0" rtl="0" algn="just">
              <a:lnSpc>
                <a:spcPct val="115000"/>
              </a:lnSpc>
              <a:spcBef>
                <a:spcPts val="0"/>
              </a:spcBef>
              <a:spcAft>
                <a:spcPts val="0"/>
              </a:spcAft>
              <a:buClr>
                <a:schemeClr val="dk1"/>
              </a:buClr>
              <a:buSzPts val="1100"/>
              <a:buFont typeface="Arial"/>
              <a:buNone/>
            </a:pPr>
            <a:r>
              <a:rPr lang="en-US" sz="2100">
                <a:solidFill>
                  <a:srgbClr val="172B4D"/>
                </a:solidFill>
                <a:highlight>
                  <a:srgbClr val="FFFFFF"/>
                </a:highlight>
                <a:latin typeface="Arial"/>
                <a:ea typeface="Arial"/>
                <a:cs typeface="Arial"/>
                <a:sym typeface="Arial"/>
              </a:rPr>
              <a:t>The goal of this initiative is to make high-quality financial advice accessible to everyone, irrespective of their level of financial knowledge or experience. The AI-based personal finance advisor claims to transform personal finance management and assist customers in achieving financial well-being by utilizing cloud computing and artificial intelligence.</a:t>
            </a:r>
            <a:endParaRPr sz="2100">
              <a:solidFill>
                <a:srgbClr val="172B4D"/>
              </a:solidFill>
              <a:highlight>
                <a:srgbClr val="FFFFFF"/>
              </a:highlight>
              <a:latin typeface="Arial"/>
              <a:ea typeface="Arial"/>
              <a:cs typeface="Arial"/>
              <a:sym typeface="Arial"/>
            </a:endParaRPr>
          </a:p>
          <a:p>
            <a:pPr indent="-50800" lvl="0" marL="228600" rtl="0" algn="just">
              <a:lnSpc>
                <a:spcPct val="90000"/>
              </a:lnSpc>
              <a:spcBef>
                <a:spcPts val="0"/>
              </a:spcBef>
              <a:spcAft>
                <a:spcPts val="0"/>
              </a:spcAft>
              <a:buClr>
                <a:schemeClr val="dk1"/>
              </a:buClr>
              <a:buSzPts val="2800"/>
              <a:buNone/>
            </a:pPr>
            <a:r>
              <a:t/>
            </a:r>
            <a:endParaRPr/>
          </a:p>
        </p:txBody>
      </p:sp>
      <p:pic>
        <p:nvPicPr>
          <p:cNvPr descr="SRM Institute of Science and Technology - Wikipedia" id="107" name="Google Shape;107;p16"/>
          <p:cNvPicPr preferRelativeResize="0"/>
          <p:nvPr/>
        </p:nvPicPr>
        <p:blipFill rotWithShape="1">
          <a:blip r:embed="rId3">
            <a:alphaModFix/>
          </a:blip>
          <a:srcRect b="0" l="0" r="0" t="0"/>
          <a:stretch/>
        </p:blipFill>
        <p:spPr>
          <a:xfrm>
            <a:off x="10450286" y="71919"/>
            <a:ext cx="1661019" cy="165576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title"/>
          </p:nvPr>
        </p:nvSpPr>
        <p:spPr>
          <a:xfrm>
            <a:off x="2717400" y="236950"/>
            <a:ext cx="67572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Problem Statement </a:t>
            </a:r>
            <a:endParaRPr/>
          </a:p>
        </p:txBody>
      </p:sp>
      <p:sp>
        <p:nvSpPr>
          <p:cNvPr id="113" name="Google Shape;113;p1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50800" lvl="0" marL="228600" rtl="0" algn="just">
              <a:lnSpc>
                <a:spcPct val="90000"/>
              </a:lnSpc>
              <a:spcBef>
                <a:spcPts val="0"/>
              </a:spcBef>
              <a:spcAft>
                <a:spcPts val="0"/>
              </a:spcAft>
              <a:buClr>
                <a:schemeClr val="dk1"/>
              </a:buClr>
              <a:buSzPts val="2800"/>
              <a:buNone/>
            </a:pPr>
            <a:r>
              <a:rPr lang="en-US" sz="2100">
                <a:latin typeface="Arial"/>
                <a:ea typeface="Arial"/>
                <a:cs typeface="Arial"/>
                <a:sym typeface="Arial"/>
              </a:rPr>
              <a:t>Traditional financial advisory services are often expensive and inaccessible to many individuals. There is a need for a cost-effective, easily accessible solution that provides personalized financial advice. This project aims to develop an AI-based personal financial advisor that uses advanced algorithms to offer tailored investment recommendations and financial planning services.</a:t>
            </a:r>
            <a:endParaRPr sz="2100">
              <a:latin typeface="Arial"/>
              <a:ea typeface="Arial"/>
              <a:cs typeface="Arial"/>
              <a:sym typeface="Arial"/>
            </a:endParaRPr>
          </a:p>
          <a:p>
            <a:pPr indent="-50800" lvl="0" marL="228600" rtl="0" algn="just">
              <a:lnSpc>
                <a:spcPct val="90000"/>
              </a:lnSpc>
              <a:spcBef>
                <a:spcPts val="0"/>
              </a:spcBef>
              <a:spcAft>
                <a:spcPts val="0"/>
              </a:spcAft>
              <a:buClr>
                <a:schemeClr val="dk1"/>
              </a:buClr>
              <a:buSzPts val="2800"/>
              <a:buNone/>
            </a:pPr>
            <a:r>
              <a:t/>
            </a:r>
            <a:endParaRPr sz="2100">
              <a:latin typeface="Arial"/>
              <a:ea typeface="Arial"/>
              <a:cs typeface="Arial"/>
              <a:sym typeface="Arial"/>
            </a:endParaRPr>
          </a:p>
          <a:p>
            <a:pPr indent="-50800" lvl="0" marL="228600" rtl="0" algn="just">
              <a:lnSpc>
                <a:spcPct val="90000"/>
              </a:lnSpc>
              <a:spcBef>
                <a:spcPts val="0"/>
              </a:spcBef>
              <a:spcAft>
                <a:spcPts val="0"/>
              </a:spcAft>
              <a:buClr>
                <a:schemeClr val="dk1"/>
              </a:buClr>
              <a:buSzPts val="2800"/>
              <a:buNone/>
            </a:pPr>
            <a:r>
              <a:rPr b="1" lang="en-US" sz="3600">
                <a:latin typeface="Arial"/>
                <a:ea typeface="Arial"/>
                <a:cs typeface="Arial"/>
                <a:sym typeface="Arial"/>
              </a:rPr>
              <a:t>“</a:t>
            </a:r>
            <a:endParaRPr b="1" sz="3600">
              <a:latin typeface="Arial"/>
              <a:ea typeface="Arial"/>
              <a:cs typeface="Arial"/>
              <a:sym typeface="Arial"/>
            </a:endParaRPr>
          </a:p>
          <a:p>
            <a:pPr indent="-50800" lvl="0" marL="228600" rtl="0" algn="just">
              <a:lnSpc>
                <a:spcPct val="90000"/>
              </a:lnSpc>
              <a:spcBef>
                <a:spcPts val="0"/>
              </a:spcBef>
              <a:spcAft>
                <a:spcPts val="0"/>
              </a:spcAft>
              <a:buClr>
                <a:schemeClr val="dk1"/>
              </a:buClr>
              <a:buSzPts val="2800"/>
              <a:buNone/>
            </a:pPr>
            <a:r>
              <a:rPr lang="en-US" sz="2100">
                <a:latin typeface="Arial"/>
                <a:ea typeface="Arial"/>
                <a:cs typeface="Arial"/>
                <a:sym typeface="Arial"/>
              </a:rPr>
              <a:t>People struggle with balancing their finances and do not feel safe around money. How might we build an intuitive and trustworthy solution that is also a financial safety net ?</a:t>
            </a:r>
            <a:endParaRPr sz="2100">
              <a:latin typeface="Arial"/>
              <a:ea typeface="Arial"/>
              <a:cs typeface="Arial"/>
              <a:sym typeface="Arial"/>
            </a:endParaRPr>
          </a:p>
          <a:p>
            <a:pPr indent="-50800" lvl="0" marL="228600" rtl="0" algn="just">
              <a:lnSpc>
                <a:spcPct val="90000"/>
              </a:lnSpc>
              <a:spcBef>
                <a:spcPts val="0"/>
              </a:spcBef>
              <a:spcAft>
                <a:spcPts val="0"/>
              </a:spcAft>
              <a:buClr>
                <a:schemeClr val="dk1"/>
              </a:buClr>
              <a:buSzPts val="2800"/>
              <a:buNone/>
            </a:pPr>
            <a:r>
              <a:rPr lang="en-US" sz="2100">
                <a:latin typeface="Arial"/>
                <a:ea typeface="Arial"/>
                <a:cs typeface="Arial"/>
                <a:sym typeface="Arial"/>
              </a:rPr>
              <a:t>        </a:t>
            </a:r>
            <a:r>
              <a:rPr lang="en-US" sz="3600">
                <a:latin typeface="Arial"/>
                <a:ea typeface="Arial"/>
                <a:cs typeface="Arial"/>
                <a:sym typeface="Arial"/>
              </a:rPr>
              <a:t> </a:t>
            </a:r>
            <a:r>
              <a:rPr b="1" lang="en-US" sz="3600">
                <a:latin typeface="Arial"/>
                <a:ea typeface="Arial"/>
                <a:cs typeface="Arial"/>
                <a:sym typeface="Arial"/>
              </a:rPr>
              <a:t>”</a:t>
            </a:r>
            <a:endParaRPr b="1" sz="3600">
              <a:latin typeface="Arial"/>
              <a:ea typeface="Arial"/>
              <a:cs typeface="Arial"/>
              <a:sym typeface="Arial"/>
            </a:endParaRPr>
          </a:p>
        </p:txBody>
      </p:sp>
      <p:pic>
        <p:nvPicPr>
          <p:cNvPr descr="SRM Institute of Science and Technology - Wikipedia" id="114" name="Google Shape;114;p17"/>
          <p:cNvPicPr preferRelativeResize="0"/>
          <p:nvPr/>
        </p:nvPicPr>
        <p:blipFill rotWithShape="1">
          <a:blip r:embed="rId3">
            <a:alphaModFix/>
          </a:blip>
          <a:srcRect b="0" l="0" r="0" t="0"/>
          <a:stretch/>
        </p:blipFill>
        <p:spPr>
          <a:xfrm>
            <a:off x="10450286" y="71919"/>
            <a:ext cx="1661019" cy="165576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8"/>
          <p:cNvSpPr txBox="1"/>
          <p:nvPr>
            <p:ph type="title"/>
          </p:nvPr>
        </p:nvSpPr>
        <p:spPr>
          <a:xfrm>
            <a:off x="2717400" y="236950"/>
            <a:ext cx="67572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Objectives</a:t>
            </a:r>
            <a:endParaRPr/>
          </a:p>
        </p:txBody>
      </p:sp>
      <p:sp>
        <p:nvSpPr>
          <p:cNvPr id="120" name="Google Shape;120;p1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Autofit/>
          </a:bodyPr>
          <a:lstStyle/>
          <a:p>
            <a:pPr indent="-361950" lvl="0" marL="457200" rtl="0" algn="just">
              <a:lnSpc>
                <a:spcPct val="115000"/>
              </a:lnSpc>
              <a:spcBef>
                <a:spcPts val="1200"/>
              </a:spcBef>
              <a:spcAft>
                <a:spcPts val="0"/>
              </a:spcAft>
              <a:buClr>
                <a:srgbClr val="172B4D"/>
              </a:buClr>
              <a:buSzPts val="2100"/>
              <a:buChar char="➢"/>
            </a:pPr>
            <a:r>
              <a:rPr b="1" lang="en-US" sz="2100">
                <a:solidFill>
                  <a:srgbClr val="172B4D"/>
                </a:solidFill>
                <a:highlight>
                  <a:srgbClr val="FFFFFF"/>
                </a:highlight>
                <a:latin typeface="Arial"/>
                <a:ea typeface="Arial"/>
                <a:cs typeface="Arial"/>
                <a:sym typeface="Arial"/>
              </a:rPr>
              <a:t>Integration of AWS AI and ML Services for Decision-Making:</a:t>
            </a:r>
            <a:endParaRPr b="1" sz="2100">
              <a:solidFill>
                <a:srgbClr val="172B4D"/>
              </a:solidFill>
              <a:highlight>
                <a:srgbClr val="FFFFFF"/>
              </a:highlight>
              <a:latin typeface="Arial"/>
              <a:ea typeface="Arial"/>
              <a:cs typeface="Arial"/>
              <a:sym typeface="Arial"/>
            </a:endParaRPr>
          </a:p>
          <a:p>
            <a:pPr indent="-361950" lvl="1" marL="914400" rtl="0" algn="just">
              <a:lnSpc>
                <a:spcPct val="115000"/>
              </a:lnSpc>
              <a:spcBef>
                <a:spcPts val="0"/>
              </a:spcBef>
              <a:spcAft>
                <a:spcPts val="0"/>
              </a:spcAft>
              <a:buClr>
                <a:srgbClr val="172B4D"/>
              </a:buClr>
              <a:buSzPts val="2100"/>
              <a:buChar char="○"/>
            </a:pPr>
            <a:r>
              <a:rPr b="1" lang="en-US" sz="2100">
                <a:solidFill>
                  <a:srgbClr val="172B4D"/>
                </a:solidFill>
                <a:highlight>
                  <a:srgbClr val="FFFFFF"/>
                </a:highlight>
                <a:latin typeface="Arial"/>
                <a:ea typeface="Arial"/>
                <a:cs typeface="Arial"/>
                <a:sym typeface="Arial"/>
              </a:rPr>
              <a:t>Objective</a:t>
            </a:r>
            <a:r>
              <a:rPr lang="en-US" sz="2100">
                <a:solidFill>
                  <a:srgbClr val="172B4D"/>
                </a:solidFill>
                <a:highlight>
                  <a:srgbClr val="FFFFFF"/>
                </a:highlight>
                <a:latin typeface="Arial"/>
                <a:ea typeface="Arial"/>
                <a:cs typeface="Arial"/>
                <a:sym typeface="Arial"/>
              </a:rPr>
              <a:t>: Utilize AWS SageMaker and AWS Lambda to implement and evaluate AI-driven decision-making processes in personal finance.</a:t>
            </a:r>
            <a:endParaRPr sz="2100">
              <a:solidFill>
                <a:srgbClr val="172B4D"/>
              </a:solidFill>
              <a:highlight>
                <a:srgbClr val="FFFFFF"/>
              </a:highlight>
              <a:latin typeface="Arial"/>
              <a:ea typeface="Arial"/>
              <a:cs typeface="Arial"/>
              <a:sym typeface="Arial"/>
            </a:endParaRPr>
          </a:p>
          <a:p>
            <a:pPr indent="-361950" lvl="1" marL="914400" rtl="0" algn="just">
              <a:lnSpc>
                <a:spcPct val="115000"/>
              </a:lnSpc>
              <a:spcBef>
                <a:spcPts val="0"/>
              </a:spcBef>
              <a:spcAft>
                <a:spcPts val="0"/>
              </a:spcAft>
              <a:buClr>
                <a:srgbClr val="172B4D"/>
              </a:buClr>
              <a:buSzPts val="2100"/>
              <a:buChar char="○"/>
            </a:pPr>
            <a:r>
              <a:rPr b="1" lang="en-US" sz="2100">
                <a:solidFill>
                  <a:srgbClr val="172B4D"/>
                </a:solidFill>
                <a:highlight>
                  <a:srgbClr val="FFFFFF"/>
                </a:highlight>
                <a:latin typeface="Arial"/>
                <a:ea typeface="Arial"/>
                <a:cs typeface="Arial"/>
                <a:sym typeface="Arial"/>
              </a:rPr>
              <a:t>Expected Outcome:</a:t>
            </a:r>
            <a:r>
              <a:rPr lang="en-US" sz="2100">
                <a:solidFill>
                  <a:srgbClr val="172B4D"/>
                </a:solidFill>
                <a:highlight>
                  <a:srgbClr val="FFFFFF"/>
                </a:highlight>
                <a:latin typeface="Arial"/>
                <a:ea typeface="Arial"/>
                <a:cs typeface="Arial"/>
                <a:sym typeface="Arial"/>
              </a:rPr>
              <a:t> Enhanced accuracy and efficiency in financial recommendations through the deployment of advanced AI models on AWS.</a:t>
            </a:r>
            <a:endParaRPr sz="2100">
              <a:solidFill>
                <a:srgbClr val="172B4D"/>
              </a:solidFill>
              <a:highlight>
                <a:srgbClr val="FFFFFF"/>
              </a:highlight>
              <a:latin typeface="Arial"/>
              <a:ea typeface="Arial"/>
              <a:cs typeface="Arial"/>
              <a:sym typeface="Arial"/>
            </a:endParaRPr>
          </a:p>
          <a:p>
            <a:pPr indent="0" lvl="0" marL="0" rtl="0" algn="just">
              <a:lnSpc>
                <a:spcPct val="100000"/>
              </a:lnSpc>
              <a:spcBef>
                <a:spcPts val="1200"/>
              </a:spcBef>
              <a:spcAft>
                <a:spcPts val="0"/>
              </a:spcAft>
              <a:buClr>
                <a:schemeClr val="dk1"/>
              </a:buClr>
              <a:buSzPts val="1100"/>
              <a:buFont typeface="Arial"/>
              <a:buNone/>
            </a:pPr>
            <a:r>
              <a:t/>
            </a:r>
            <a:endParaRPr sz="2100">
              <a:solidFill>
                <a:srgbClr val="172B4D"/>
              </a:solidFill>
              <a:highlight>
                <a:srgbClr val="FFFFFF"/>
              </a:highlight>
              <a:latin typeface="Arial"/>
              <a:ea typeface="Arial"/>
              <a:cs typeface="Arial"/>
              <a:sym typeface="Arial"/>
            </a:endParaRPr>
          </a:p>
          <a:p>
            <a:pPr indent="-361950" lvl="0" marL="457200" rtl="0" algn="just">
              <a:lnSpc>
                <a:spcPct val="115000"/>
              </a:lnSpc>
              <a:spcBef>
                <a:spcPts val="1200"/>
              </a:spcBef>
              <a:spcAft>
                <a:spcPts val="0"/>
              </a:spcAft>
              <a:buClr>
                <a:srgbClr val="172B4D"/>
              </a:buClr>
              <a:buSzPts val="2100"/>
              <a:buChar char="➢"/>
            </a:pPr>
            <a:r>
              <a:rPr b="1" lang="en-US" sz="2100">
                <a:solidFill>
                  <a:srgbClr val="172B4D"/>
                </a:solidFill>
                <a:highlight>
                  <a:srgbClr val="FFFFFF"/>
                </a:highlight>
                <a:latin typeface="Arial"/>
                <a:ea typeface="Arial"/>
                <a:cs typeface="Arial"/>
                <a:sym typeface="Arial"/>
              </a:rPr>
              <a:t>Real-Time Financial Data Processing Using AWS:</a:t>
            </a:r>
            <a:endParaRPr b="1" sz="2100">
              <a:solidFill>
                <a:srgbClr val="172B4D"/>
              </a:solidFill>
              <a:highlight>
                <a:srgbClr val="FFFFFF"/>
              </a:highlight>
              <a:latin typeface="Arial"/>
              <a:ea typeface="Arial"/>
              <a:cs typeface="Arial"/>
              <a:sym typeface="Arial"/>
            </a:endParaRPr>
          </a:p>
          <a:p>
            <a:pPr indent="-361950" lvl="1" marL="914400" rtl="0" algn="just">
              <a:lnSpc>
                <a:spcPct val="115000"/>
              </a:lnSpc>
              <a:spcBef>
                <a:spcPts val="0"/>
              </a:spcBef>
              <a:spcAft>
                <a:spcPts val="0"/>
              </a:spcAft>
              <a:buClr>
                <a:srgbClr val="172B4D"/>
              </a:buClr>
              <a:buSzPts val="2100"/>
              <a:buChar char="○"/>
            </a:pPr>
            <a:r>
              <a:rPr b="1" lang="en-US" sz="2100">
                <a:solidFill>
                  <a:srgbClr val="172B4D"/>
                </a:solidFill>
                <a:highlight>
                  <a:srgbClr val="FFFFFF"/>
                </a:highlight>
                <a:latin typeface="Arial"/>
                <a:ea typeface="Arial"/>
                <a:cs typeface="Arial"/>
                <a:sym typeface="Arial"/>
              </a:rPr>
              <a:t>Objective:</a:t>
            </a:r>
            <a:r>
              <a:rPr lang="en-US" sz="2100">
                <a:solidFill>
                  <a:srgbClr val="172B4D"/>
                </a:solidFill>
                <a:highlight>
                  <a:srgbClr val="FFFFFF"/>
                </a:highlight>
                <a:latin typeface="Arial"/>
                <a:ea typeface="Arial"/>
                <a:cs typeface="Arial"/>
                <a:sym typeface="Arial"/>
              </a:rPr>
              <a:t> Leverage AWS services like Amazon Kinesis and AWS Lambda for real-time data ingestion, processing, and analysis of financial transactions.</a:t>
            </a:r>
            <a:endParaRPr sz="2100">
              <a:solidFill>
                <a:srgbClr val="172B4D"/>
              </a:solidFill>
              <a:highlight>
                <a:srgbClr val="FFFFFF"/>
              </a:highlight>
              <a:latin typeface="Arial"/>
              <a:ea typeface="Arial"/>
              <a:cs typeface="Arial"/>
              <a:sym typeface="Arial"/>
            </a:endParaRPr>
          </a:p>
          <a:p>
            <a:pPr indent="-361950" lvl="1" marL="914400" rtl="0" algn="just">
              <a:lnSpc>
                <a:spcPct val="115000"/>
              </a:lnSpc>
              <a:spcBef>
                <a:spcPts val="0"/>
              </a:spcBef>
              <a:spcAft>
                <a:spcPts val="0"/>
              </a:spcAft>
              <a:buClr>
                <a:srgbClr val="172B4D"/>
              </a:buClr>
              <a:buSzPts val="2100"/>
              <a:buChar char="○"/>
            </a:pPr>
            <a:r>
              <a:rPr b="1" lang="en-US" sz="2100">
                <a:solidFill>
                  <a:srgbClr val="172B4D"/>
                </a:solidFill>
                <a:highlight>
                  <a:srgbClr val="FFFFFF"/>
                </a:highlight>
                <a:latin typeface="Arial"/>
                <a:ea typeface="Arial"/>
                <a:cs typeface="Arial"/>
                <a:sym typeface="Arial"/>
              </a:rPr>
              <a:t>Expected Outcome: </a:t>
            </a:r>
            <a:r>
              <a:rPr lang="en-US" sz="2100">
                <a:solidFill>
                  <a:srgbClr val="172B4D"/>
                </a:solidFill>
                <a:highlight>
                  <a:srgbClr val="FFFFFF"/>
                </a:highlight>
                <a:latin typeface="Arial"/>
                <a:ea typeface="Arial"/>
                <a:cs typeface="Arial"/>
                <a:sym typeface="Arial"/>
              </a:rPr>
              <a:t>Improved responsiveness and up-to-date financial insights for users, ensuring accurate budget tracking and expense management.</a:t>
            </a:r>
            <a:endParaRPr sz="2100">
              <a:solidFill>
                <a:srgbClr val="172B4D"/>
              </a:solidFill>
              <a:highlight>
                <a:srgbClr val="FFFFFF"/>
              </a:highlight>
              <a:latin typeface="Arial"/>
              <a:ea typeface="Arial"/>
              <a:cs typeface="Arial"/>
              <a:sym typeface="Arial"/>
            </a:endParaRPr>
          </a:p>
          <a:p>
            <a:pPr indent="0" lvl="0" marL="0" rtl="0" algn="just">
              <a:lnSpc>
                <a:spcPct val="100000"/>
              </a:lnSpc>
              <a:spcBef>
                <a:spcPts val="1200"/>
              </a:spcBef>
              <a:spcAft>
                <a:spcPts val="0"/>
              </a:spcAft>
              <a:buClr>
                <a:schemeClr val="dk1"/>
              </a:buClr>
              <a:buSzPts val="1100"/>
              <a:buFont typeface="Arial"/>
              <a:buNone/>
            </a:pPr>
            <a:r>
              <a:t/>
            </a:r>
            <a:endParaRPr sz="2100">
              <a:solidFill>
                <a:srgbClr val="172B4D"/>
              </a:solidFill>
              <a:highlight>
                <a:srgbClr val="FFFFFF"/>
              </a:highlight>
              <a:latin typeface="Arial"/>
              <a:ea typeface="Arial"/>
              <a:cs typeface="Arial"/>
              <a:sym typeface="Arial"/>
            </a:endParaRPr>
          </a:p>
          <a:p>
            <a:pPr indent="0" lvl="0" marL="457200" rtl="0" algn="just">
              <a:lnSpc>
                <a:spcPct val="115000"/>
              </a:lnSpc>
              <a:spcBef>
                <a:spcPts val="1200"/>
              </a:spcBef>
              <a:spcAft>
                <a:spcPts val="1200"/>
              </a:spcAft>
              <a:buNone/>
            </a:pPr>
            <a:r>
              <a:t/>
            </a:r>
            <a:endParaRPr sz="2100"/>
          </a:p>
        </p:txBody>
      </p:sp>
      <p:pic>
        <p:nvPicPr>
          <p:cNvPr descr="SRM Institute of Science and Technology - Wikipedia" id="121" name="Google Shape;121;p18"/>
          <p:cNvPicPr preferRelativeResize="0"/>
          <p:nvPr/>
        </p:nvPicPr>
        <p:blipFill rotWithShape="1">
          <a:blip r:embed="rId3">
            <a:alphaModFix/>
          </a:blip>
          <a:srcRect b="0" l="0" r="0" t="0"/>
          <a:stretch/>
        </p:blipFill>
        <p:spPr>
          <a:xfrm>
            <a:off x="10450286" y="71919"/>
            <a:ext cx="1661019" cy="165576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txBox="1"/>
          <p:nvPr>
            <p:ph type="title"/>
          </p:nvPr>
        </p:nvSpPr>
        <p:spPr>
          <a:xfrm>
            <a:off x="2717400" y="236950"/>
            <a:ext cx="67572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 </a:t>
            </a:r>
            <a:endParaRPr/>
          </a:p>
        </p:txBody>
      </p:sp>
      <p:sp>
        <p:nvSpPr>
          <p:cNvPr id="127" name="Google Shape;127;p19"/>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Autofit/>
          </a:bodyPr>
          <a:lstStyle/>
          <a:p>
            <a:pPr indent="-342900" lvl="0" marL="457200" rtl="0" algn="just">
              <a:lnSpc>
                <a:spcPct val="115000"/>
              </a:lnSpc>
              <a:spcBef>
                <a:spcPts val="1200"/>
              </a:spcBef>
              <a:spcAft>
                <a:spcPts val="0"/>
              </a:spcAft>
              <a:buSzPts val="1800"/>
              <a:buChar char="➢"/>
            </a:pPr>
            <a:r>
              <a:rPr b="1" lang="en-US" sz="2100">
                <a:solidFill>
                  <a:srgbClr val="172B4D"/>
                </a:solidFill>
                <a:highlight>
                  <a:srgbClr val="FFFFFF"/>
                </a:highlight>
                <a:latin typeface="Arial"/>
                <a:ea typeface="Arial"/>
                <a:cs typeface="Arial"/>
                <a:sym typeface="Arial"/>
              </a:rPr>
              <a:t>Scalability and Performance Analysis with AWS Infrastructure:</a:t>
            </a:r>
            <a:endParaRPr b="1" sz="2100">
              <a:solidFill>
                <a:srgbClr val="172B4D"/>
              </a:solidFill>
              <a:highlight>
                <a:srgbClr val="FFFFFF"/>
              </a:highlight>
              <a:latin typeface="Arial"/>
              <a:ea typeface="Arial"/>
              <a:cs typeface="Arial"/>
              <a:sym typeface="Arial"/>
            </a:endParaRPr>
          </a:p>
          <a:p>
            <a:pPr indent="-361950" lvl="1" marL="914400" rtl="0" algn="just">
              <a:lnSpc>
                <a:spcPct val="115000"/>
              </a:lnSpc>
              <a:spcBef>
                <a:spcPts val="0"/>
              </a:spcBef>
              <a:spcAft>
                <a:spcPts val="0"/>
              </a:spcAft>
              <a:buClr>
                <a:srgbClr val="172B4D"/>
              </a:buClr>
              <a:buSzPts val="2100"/>
              <a:buChar char="○"/>
            </a:pPr>
            <a:r>
              <a:rPr b="1" lang="en-US" sz="2100">
                <a:solidFill>
                  <a:srgbClr val="172B4D"/>
                </a:solidFill>
                <a:highlight>
                  <a:srgbClr val="FFFFFF"/>
                </a:highlight>
                <a:latin typeface="Arial"/>
                <a:ea typeface="Arial"/>
                <a:cs typeface="Arial"/>
                <a:sym typeface="Arial"/>
              </a:rPr>
              <a:t>Objective:</a:t>
            </a:r>
            <a:r>
              <a:rPr lang="en-US" sz="2100">
                <a:solidFill>
                  <a:srgbClr val="172B4D"/>
                </a:solidFill>
                <a:highlight>
                  <a:srgbClr val="FFFFFF"/>
                </a:highlight>
                <a:latin typeface="Arial"/>
                <a:ea typeface="Arial"/>
                <a:cs typeface="Arial"/>
                <a:sym typeface="Arial"/>
              </a:rPr>
              <a:t> Assess the scalability and performance of the personal finance app using AWS EC2 and AWS Auto Scaling.</a:t>
            </a:r>
            <a:endParaRPr sz="2100">
              <a:solidFill>
                <a:srgbClr val="172B4D"/>
              </a:solidFill>
              <a:highlight>
                <a:srgbClr val="FFFFFF"/>
              </a:highlight>
              <a:latin typeface="Arial"/>
              <a:ea typeface="Arial"/>
              <a:cs typeface="Arial"/>
              <a:sym typeface="Arial"/>
            </a:endParaRPr>
          </a:p>
          <a:p>
            <a:pPr indent="-361950" lvl="1" marL="914400" rtl="0" algn="just">
              <a:lnSpc>
                <a:spcPct val="115000"/>
              </a:lnSpc>
              <a:spcBef>
                <a:spcPts val="0"/>
              </a:spcBef>
              <a:spcAft>
                <a:spcPts val="0"/>
              </a:spcAft>
              <a:buClr>
                <a:srgbClr val="172B4D"/>
              </a:buClr>
              <a:buSzPts val="2100"/>
              <a:buChar char="○"/>
            </a:pPr>
            <a:r>
              <a:rPr b="1" lang="en-US" sz="2100">
                <a:solidFill>
                  <a:srgbClr val="172B4D"/>
                </a:solidFill>
                <a:highlight>
                  <a:srgbClr val="FFFFFF"/>
                </a:highlight>
                <a:latin typeface="Arial"/>
                <a:ea typeface="Arial"/>
                <a:cs typeface="Arial"/>
                <a:sym typeface="Arial"/>
              </a:rPr>
              <a:t>Expected Outcome:</a:t>
            </a:r>
            <a:r>
              <a:rPr lang="en-US" sz="2100">
                <a:solidFill>
                  <a:srgbClr val="172B4D"/>
                </a:solidFill>
                <a:highlight>
                  <a:srgbClr val="FFFFFF"/>
                </a:highlight>
                <a:latin typeface="Arial"/>
                <a:ea typeface="Arial"/>
                <a:cs typeface="Arial"/>
                <a:sym typeface="Arial"/>
              </a:rPr>
              <a:t> A robust and scalable architecture capable of handling increased user load without compromising performance.</a:t>
            </a:r>
            <a:endParaRPr sz="2100">
              <a:solidFill>
                <a:srgbClr val="172B4D"/>
              </a:solidFill>
              <a:highlight>
                <a:srgbClr val="FFFFFF"/>
              </a:highlight>
              <a:latin typeface="Arial"/>
              <a:ea typeface="Arial"/>
              <a:cs typeface="Arial"/>
              <a:sym typeface="Arial"/>
            </a:endParaRPr>
          </a:p>
          <a:p>
            <a:pPr indent="0" lvl="0" marL="457200" rtl="0" algn="just">
              <a:lnSpc>
                <a:spcPct val="115000"/>
              </a:lnSpc>
              <a:spcBef>
                <a:spcPts val="1200"/>
              </a:spcBef>
              <a:spcAft>
                <a:spcPts val="0"/>
              </a:spcAft>
              <a:buClr>
                <a:schemeClr val="dk1"/>
              </a:buClr>
              <a:buSzPts val="1100"/>
              <a:buFont typeface="Arial"/>
              <a:buNone/>
            </a:pPr>
            <a:r>
              <a:t/>
            </a:r>
            <a:endParaRPr sz="2100">
              <a:solidFill>
                <a:srgbClr val="172B4D"/>
              </a:solidFill>
              <a:highlight>
                <a:srgbClr val="FFFFFF"/>
              </a:highlight>
              <a:latin typeface="Arial"/>
              <a:ea typeface="Arial"/>
              <a:cs typeface="Arial"/>
              <a:sym typeface="Arial"/>
            </a:endParaRPr>
          </a:p>
          <a:p>
            <a:pPr indent="-342900" lvl="0" marL="457200" rtl="0" algn="just">
              <a:lnSpc>
                <a:spcPct val="115000"/>
              </a:lnSpc>
              <a:spcBef>
                <a:spcPts val="1200"/>
              </a:spcBef>
              <a:spcAft>
                <a:spcPts val="0"/>
              </a:spcAft>
              <a:buSzPts val="1800"/>
              <a:buChar char="➢"/>
            </a:pPr>
            <a:r>
              <a:rPr b="1" lang="en-US" sz="2100">
                <a:solidFill>
                  <a:srgbClr val="172B4D"/>
                </a:solidFill>
                <a:highlight>
                  <a:srgbClr val="FFFFFF"/>
                </a:highlight>
                <a:latin typeface="Arial"/>
                <a:ea typeface="Arial"/>
                <a:cs typeface="Arial"/>
                <a:sym typeface="Arial"/>
              </a:rPr>
              <a:t>Enhanced Data Security and Privacy Compliance:</a:t>
            </a:r>
            <a:endParaRPr b="1" sz="2100">
              <a:solidFill>
                <a:srgbClr val="172B4D"/>
              </a:solidFill>
              <a:highlight>
                <a:srgbClr val="FFFFFF"/>
              </a:highlight>
              <a:latin typeface="Arial"/>
              <a:ea typeface="Arial"/>
              <a:cs typeface="Arial"/>
              <a:sym typeface="Arial"/>
            </a:endParaRPr>
          </a:p>
          <a:p>
            <a:pPr indent="-361950" lvl="1" marL="914400" rtl="0" algn="just">
              <a:lnSpc>
                <a:spcPct val="115000"/>
              </a:lnSpc>
              <a:spcBef>
                <a:spcPts val="0"/>
              </a:spcBef>
              <a:spcAft>
                <a:spcPts val="0"/>
              </a:spcAft>
              <a:buClr>
                <a:srgbClr val="172B4D"/>
              </a:buClr>
              <a:buSzPts val="2100"/>
              <a:buChar char="○"/>
            </a:pPr>
            <a:r>
              <a:rPr b="1" lang="en-US" sz="2100">
                <a:solidFill>
                  <a:srgbClr val="172B4D"/>
                </a:solidFill>
                <a:highlight>
                  <a:srgbClr val="FFFFFF"/>
                </a:highlight>
                <a:latin typeface="Arial"/>
                <a:ea typeface="Arial"/>
                <a:cs typeface="Arial"/>
                <a:sym typeface="Arial"/>
              </a:rPr>
              <a:t>Objective: </a:t>
            </a:r>
            <a:r>
              <a:rPr lang="en-US" sz="2100">
                <a:solidFill>
                  <a:srgbClr val="172B4D"/>
                </a:solidFill>
                <a:highlight>
                  <a:srgbClr val="FFFFFF"/>
                </a:highlight>
                <a:latin typeface="Arial"/>
                <a:ea typeface="Arial"/>
                <a:cs typeface="Arial"/>
                <a:sym typeface="Arial"/>
              </a:rPr>
              <a:t>Implement AWS IAM, AWS KMS, and AWS CloudTrail to secure user data and ensure compliance with privacy regulations.</a:t>
            </a:r>
            <a:endParaRPr sz="2100">
              <a:solidFill>
                <a:srgbClr val="172B4D"/>
              </a:solidFill>
              <a:highlight>
                <a:srgbClr val="FFFFFF"/>
              </a:highlight>
              <a:latin typeface="Arial"/>
              <a:ea typeface="Arial"/>
              <a:cs typeface="Arial"/>
              <a:sym typeface="Arial"/>
            </a:endParaRPr>
          </a:p>
          <a:p>
            <a:pPr indent="-361950" lvl="1" marL="914400" rtl="0" algn="just">
              <a:lnSpc>
                <a:spcPct val="115000"/>
              </a:lnSpc>
              <a:spcBef>
                <a:spcPts val="0"/>
              </a:spcBef>
              <a:spcAft>
                <a:spcPts val="0"/>
              </a:spcAft>
              <a:buClr>
                <a:srgbClr val="172B4D"/>
              </a:buClr>
              <a:buSzPts val="2100"/>
              <a:buChar char="○"/>
            </a:pPr>
            <a:r>
              <a:rPr b="1" lang="en-US" sz="2100">
                <a:solidFill>
                  <a:srgbClr val="172B4D"/>
                </a:solidFill>
                <a:highlight>
                  <a:srgbClr val="FFFFFF"/>
                </a:highlight>
                <a:latin typeface="Arial"/>
                <a:ea typeface="Arial"/>
                <a:cs typeface="Arial"/>
                <a:sym typeface="Arial"/>
              </a:rPr>
              <a:t>Expected Outcome: </a:t>
            </a:r>
            <a:r>
              <a:rPr lang="en-US" sz="2100">
                <a:solidFill>
                  <a:srgbClr val="172B4D"/>
                </a:solidFill>
                <a:highlight>
                  <a:srgbClr val="FFFFFF"/>
                </a:highlight>
                <a:latin typeface="Arial"/>
                <a:ea typeface="Arial"/>
                <a:cs typeface="Arial"/>
                <a:sym typeface="Arial"/>
              </a:rPr>
              <a:t>A secure personal finance platform that protects user data and builds trust through stringent security measures and compliance.</a:t>
            </a:r>
            <a:endParaRPr sz="2100">
              <a:solidFill>
                <a:srgbClr val="172B4D"/>
              </a:solidFill>
              <a:highlight>
                <a:srgbClr val="FFFFFF"/>
              </a:highlight>
              <a:latin typeface="Arial"/>
              <a:ea typeface="Arial"/>
              <a:cs typeface="Arial"/>
              <a:sym typeface="Arial"/>
            </a:endParaRPr>
          </a:p>
          <a:p>
            <a:pPr indent="-50800" lvl="0" marL="228600" rtl="0" algn="just">
              <a:lnSpc>
                <a:spcPct val="90000"/>
              </a:lnSpc>
              <a:spcBef>
                <a:spcPts val="1200"/>
              </a:spcBef>
              <a:spcAft>
                <a:spcPts val="0"/>
              </a:spcAft>
              <a:buClr>
                <a:schemeClr val="dk1"/>
              </a:buClr>
              <a:buSzPts val="2800"/>
              <a:buNone/>
            </a:pPr>
            <a:r>
              <a:t/>
            </a:r>
            <a:endParaRPr sz="2100"/>
          </a:p>
        </p:txBody>
      </p:sp>
      <p:pic>
        <p:nvPicPr>
          <p:cNvPr descr="SRM Institute of Science and Technology - Wikipedia" id="128" name="Google Shape;128;p19"/>
          <p:cNvPicPr preferRelativeResize="0"/>
          <p:nvPr/>
        </p:nvPicPr>
        <p:blipFill rotWithShape="1">
          <a:blip r:embed="rId3">
            <a:alphaModFix/>
          </a:blip>
          <a:srcRect b="0" l="0" r="0" t="0"/>
          <a:stretch/>
        </p:blipFill>
        <p:spPr>
          <a:xfrm>
            <a:off x="10450286" y="71919"/>
            <a:ext cx="1661019" cy="1655763"/>
          </a:xfrm>
          <a:prstGeom prst="rect">
            <a:avLst/>
          </a:prstGeom>
          <a:noFill/>
          <a:ln>
            <a:noFill/>
          </a:ln>
        </p:spPr>
      </p:pic>
      <p:sp>
        <p:nvSpPr>
          <p:cNvPr id="129" name="Google Shape;129;p19"/>
          <p:cNvSpPr txBox="1"/>
          <p:nvPr>
            <p:ph type="title"/>
          </p:nvPr>
        </p:nvSpPr>
        <p:spPr>
          <a:xfrm>
            <a:off x="2717400" y="236950"/>
            <a:ext cx="67572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Objectives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txBox="1"/>
          <p:nvPr>
            <p:ph type="title"/>
          </p:nvPr>
        </p:nvSpPr>
        <p:spPr>
          <a:xfrm>
            <a:off x="2717400" y="236950"/>
            <a:ext cx="6757200" cy="1325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Objectives</a:t>
            </a:r>
            <a:endParaRPr/>
          </a:p>
        </p:txBody>
      </p:sp>
      <p:sp>
        <p:nvSpPr>
          <p:cNvPr id="135" name="Google Shape;135;p2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15000"/>
              </a:lnSpc>
              <a:spcBef>
                <a:spcPts val="1200"/>
              </a:spcBef>
              <a:spcAft>
                <a:spcPts val="0"/>
              </a:spcAft>
              <a:buNone/>
            </a:pPr>
            <a:r>
              <a:t/>
            </a:r>
            <a:endParaRPr sz="1200">
              <a:solidFill>
                <a:srgbClr val="172B4D"/>
              </a:solidFill>
              <a:highlight>
                <a:srgbClr val="FFFFFF"/>
              </a:highlight>
              <a:latin typeface="Arial"/>
              <a:ea typeface="Arial"/>
              <a:cs typeface="Arial"/>
              <a:sym typeface="Arial"/>
            </a:endParaRPr>
          </a:p>
          <a:p>
            <a:pPr indent="-361950" lvl="0" marL="457200" rtl="0" algn="just">
              <a:lnSpc>
                <a:spcPct val="115000"/>
              </a:lnSpc>
              <a:spcBef>
                <a:spcPts val="1200"/>
              </a:spcBef>
              <a:spcAft>
                <a:spcPts val="0"/>
              </a:spcAft>
              <a:buClr>
                <a:srgbClr val="172B4D"/>
              </a:buClr>
              <a:buSzPct val="100000"/>
              <a:buChar char="➢"/>
            </a:pPr>
            <a:r>
              <a:rPr b="1" lang="en-US" sz="8400">
                <a:solidFill>
                  <a:srgbClr val="172B4D"/>
                </a:solidFill>
                <a:highlight>
                  <a:srgbClr val="FFFFFF"/>
                </a:highlight>
                <a:latin typeface="Arial"/>
                <a:ea typeface="Arial"/>
                <a:cs typeface="Arial"/>
                <a:sym typeface="Arial"/>
              </a:rPr>
              <a:t>User Experience Improvement through AWS Integration:</a:t>
            </a:r>
            <a:endParaRPr b="1" sz="8400">
              <a:solidFill>
                <a:srgbClr val="172B4D"/>
              </a:solidFill>
              <a:highlight>
                <a:srgbClr val="FFFFFF"/>
              </a:highlight>
              <a:latin typeface="Arial"/>
              <a:ea typeface="Arial"/>
              <a:cs typeface="Arial"/>
              <a:sym typeface="Arial"/>
            </a:endParaRPr>
          </a:p>
          <a:p>
            <a:pPr indent="-361950" lvl="1" marL="914400" rtl="0" algn="just">
              <a:lnSpc>
                <a:spcPct val="115000"/>
              </a:lnSpc>
              <a:spcBef>
                <a:spcPts val="0"/>
              </a:spcBef>
              <a:spcAft>
                <a:spcPts val="0"/>
              </a:spcAft>
              <a:buClr>
                <a:srgbClr val="172B4D"/>
              </a:buClr>
              <a:buSzPct val="100000"/>
              <a:buChar char="○"/>
            </a:pPr>
            <a:r>
              <a:rPr b="1" lang="en-US" sz="8400">
                <a:solidFill>
                  <a:srgbClr val="172B4D"/>
                </a:solidFill>
                <a:highlight>
                  <a:srgbClr val="FFFFFF"/>
                </a:highlight>
                <a:latin typeface="Arial"/>
                <a:ea typeface="Arial"/>
                <a:cs typeface="Arial"/>
                <a:sym typeface="Arial"/>
              </a:rPr>
              <a:t>Objective:</a:t>
            </a:r>
            <a:r>
              <a:rPr lang="en-US" sz="8400">
                <a:solidFill>
                  <a:srgbClr val="172B4D"/>
                </a:solidFill>
                <a:highlight>
                  <a:srgbClr val="FFFFFF"/>
                </a:highlight>
                <a:latin typeface="Arial"/>
                <a:ea typeface="Arial"/>
                <a:cs typeface="Arial"/>
                <a:sym typeface="Arial"/>
              </a:rPr>
              <a:t> Use AWS API Gateway and AWS AppSync to create seamless and responsive user interfaces for the personal finance app.</a:t>
            </a:r>
            <a:endParaRPr sz="8400">
              <a:solidFill>
                <a:srgbClr val="172B4D"/>
              </a:solidFill>
              <a:highlight>
                <a:srgbClr val="FFFFFF"/>
              </a:highlight>
              <a:latin typeface="Arial"/>
              <a:ea typeface="Arial"/>
              <a:cs typeface="Arial"/>
              <a:sym typeface="Arial"/>
            </a:endParaRPr>
          </a:p>
          <a:p>
            <a:pPr indent="-361950" lvl="1" marL="914400" rtl="0" algn="just">
              <a:lnSpc>
                <a:spcPct val="115000"/>
              </a:lnSpc>
              <a:spcBef>
                <a:spcPts val="0"/>
              </a:spcBef>
              <a:spcAft>
                <a:spcPts val="0"/>
              </a:spcAft>
              <a:buClr>
                <a:srgbClr val="172B4D"/>
              </a:buClr>
              <a:buSzPct val="100000"/>
              <a:buChar char="○"/>
            </a:pPr>
            <a:r>
              <a:rPr b="1" lang="en-US" sz="8400">
                <a:solidFill>
                  <a:srgbClr val="172B4D"/>
                </a:solidFill>
                <a:highlight>
                  <a:srgbClr val="FFFFFF"/>
                </a:highlight>
                <a:latin typeface="Arial"/>
                <a:ea typeface="Arial"/>
                <a:cs typeface="Arial"/>
                <a:sym typeface="Arial"/>
              </a:rPr>
              <a:t>Expected Outcome: </a:t>
            </a:r>
            <a:r>
              <a:rPr lang="en-US" sz="8400">
                <a:solidFill>
                  <a:srgbClr val="172B4D"/>
                </a:solidFill>
                <a:highlight>
                  <a:srgbClr val="FFFFFF"/>
                </a:highlight>
                <a:latin typeface="Arial"/>
                <a:ea typeface="Arial"/>
                <a:cs typeface="Arial"/>
                <a:sym typeface="Arial"/>
              </a:rPr>
              <a:t>A user-friendly and efficient interface that enhances user engagement and satisfaction.</a:t>
            </a:r>
            <a:endParaRPr sz="8400">
              <a:solidFill>
                <a:srgbClr val="172B4D"/>
              </a:solidFill>
              <a:highlight>
                <a:srgbClr val="FFFFFF"/>
              </a:highlight>
              <a:latin typeface="Arial"/>
              <a:ea typeface="Arial"/>
              <a:cs typeface="Arial"/>
              <a:sym typeface="Arial"/>
            </a:endParaRPr>
          </a:p>
          <a:p>
            <a:pPr indent="0" lvl="0" marL="0" rtl="0" algn="just">
              <a:lnSpc>
                <a:spcPct val="115000"/>
              </a:lnSpc>
              <a:spcBef>
                <a:spcPts val="1200"/>
              </a:spcBef>
              <a:spcAft>
                <a:spcPts val="0"/>
              </a:spcAft>
              <a:buClr>
                <a:schemeClr val="dk1"/>
              </a:buClr>
              <a:buSzPts val="275"/>
              <a:buFont typeface="Arial"/>
              <a:buNone/>
            </a:pPr>
            <a:r>
              <a:t/>
            </a:r>
            <a:endParaRPr sz="8400">
              <a:solidFill>
                <a:srgbClr val="172B4D"/>
              </a:solidFill>
              <a:highlight>
                <a:srgbClr val="FFFFFF"/>
              </a:highlight>
              <a:latin typeface="Arial"/>
              <a:ea typeface="Arial"/>
              <a:cs typeface="Arial"/>
              <a:sym typeface="Arial"/>
            </a:endParaRPr>
          </a:p>
          <a:p>
            <a:pPr indent="-361950" lvl="0" marL="457200" rtl="0" algn="just">
              <a:lnSpc>
                <a:spcPct val="115000"/>
              </a:lnSpc>
              <a:spcBef>
                <a:spcPts val="1200"/>
              </a:spcBef>
              <a:spcAft>
                <a:spcPts val="0"/>
              </a:spcAft>
              <a:buClr>
                <a:srgbClr val="172B4D"/>
              </a:buClr>
              <a:buSzPct val="100000"/>
              <a:buChar char="➢"/>
            </a:pPr>
            <a:r>
              <a:rPr b="1" lang="en-US" sz="8400">
                <a:solidFill>
                  <a:srgbClr val="172B4D"/>
                </a:solidFill>
                <a:highlight>
                  <a:srgbClr val="FFFFFF"/>
                </a:highlight>
                <a:latin typeface="Arial"/>
                <a:ea typeface="Arial"/>
                <a:cs typeface="Arial"/>
                <a:sym typeface="Arial"/>
              </a:rPr>
              <a:t>Cost Optimization and Efficiency Analysis:</a:t>
            </a:r>
            <a:endParaRPr b="1" sz="8400">
              <a:solidFill>
                <a:srgbClr val="172B4D"/>
              </a:solidFill>
              <a:highlight>
                <a:srgbClr val="FFFFFF"/>
              </a:highlight>
              <a:latin typeface="Arial"/>
              <a:ea typeface="Arial"/>
              <a:cs typeface="Arial"/>
              <a:sym typeface="Arial"/>
            </a:endParaRPr>
          </a:p>
          <a:p>
            <a:pPr indent="-361950" lvl="1" marL="914400" rtl="0" algn="just">
              <a:lnSpc>
                <a:spcPct val="115000"/>
              </a:lnSpc>
              <a:spcBef>
                <a:spcPts val="0"/>
              </a:spcBef>
              <a:spcAft>
                <a:spcPts val="0"/>
              </a:spcAft>
              <a:buClr>
                <a:srgbClr val="172B4D"/>
              </a:buClr>
              <a:buSzPct val="100000"/>
              <a:buChar char="○"/>
            </a:pPr>
            <a:r>
              <a:rPr b="1" lang="en-US" sz="8400">
                <a:solidFill>
                  <a:srgbClr val="172B4D"/>
                </a:solidFill>
                <a:highlight>
                  <a:srgbClr val="FFFFFF"/>
                </a:highlight>
                <a:latin typeface="Arial"/>
                <a:ea typeface="Arial"/>
                <a:cs typeface="Arial"/>
                <a:sym typeface="Arial"/>
              </a:rPr>
              <a:t>Objective: </a:t>
            </a:r>
            <a:r>
              <a:rPr lang="en-US" sz="8400">
                <a:solidFill>
                  <a:srgbClr val="172B4D"/>
                </a:solidFill>
                <a:highlight>
                  <a:srgbClr val="FFFFFF"/>
                </a:highlight>
                <a:latin typeface="Arial"/>
                <a:ea typeface="Arial"/>
                <a:cs typeface="Arial"/>
                <a:sym typeface="Arial"/>
              </a:rPr>
              <a:t>Utilize AWS Cost Explorer and AWS Trusted Advisor to optimize the cost-effectiveness of running the personal finance app on AWS.</a:t>
            </a:r>
            <a:endParaRPr sz="8400">
              <a:solidFill>
                <a:srgbClr val="172B4D"/>
              </a:solidFill>
              <a:highlight>
                <a:srgbClr val="FFFFFF"/>
              </a:highlight>
              <a:latin typeface="Arial"/>
              <a:ea typeface="Arial"/>
              <a:cs typeface="Arial"/>
              <a:sym typeface="Arial"/>
            </a:endParaRPr>
          </a:p>
          <a:p>
            <a:pPr indent="-361950" lvl="1" marL="914400" rtl="0" algn="just">
              <a:lnSpc>
                <a:spcPct val="115000"/>
              </a:lnSpc>
              <a:spcBef>
                <a:spcPts val="0"/>
              </a:spcBef>
              <a:spcAft>
                <a:spcPts val="0"/>
              </a:spcAft>
              <a:buClr>
                <a:srgbClr val="172B4D"/>
              </a:buClr>
              <a:buSzPct val="100000"/>
              <a:buChar char="○"/>
            </a:pPr>
            <a:r>
              <a:rPr b="1" lang="en-US" sz="8400">
                <a:solidFill>
                  <a:srgbClr val="172B4D"/>
                </a:solidFill>
                <a:highlight>
                  <a:srgbClr val="FFFFFF"/>
                </a:highlight>
                <a:latin typeface="Arial"/>
                <a:ea typeface="Arial"/>
                <a:cs typeface="Arial"/>
                <a:sym typeface="Arial"/>
              </a:rPr>
              <a:t>Expected Outcome: </a:t>
            </a:r>
            <a:r>
              <a:rPr lang="en-US" sz="8400">
                <a:solidFill>
                  <a:srgbClr val="172B4D"/>
                </a:solidFill>
                <a:highlight>
                  <a:srgbClr val="FFFFFF"/>
                </a:highlight>
                <a:latin typeface="Arial"/>
                <a:ea typeface="Arial"/>
                <a:cs typeface="Arial"/>
                <a:sym typeface="Arial"/>
              </a:rPr>
              <a:t>Reduced operational costs while maintaining high service quality, making the app more affordable and accessible.</a:t>
            </a:r>
            <a:endParaRPr sz="8400">
              <a:solidFill>
                <a:srgbClr val="172B4D"/>
              </a:solidFill>
              <a:highlight>
                <a:srgbClr val="FFFFFF"/>
              </a:highlight>
              <a:latin typeface="Arial"/>
              <a:ea typeface="Arial"/>
              <a:cs typeface="Arial"/>
              <a:sym typeface="Arial"/>
            </a:endParaRPr>
          </a:p>
          <a:p>
            <a:pPr indent="0" lvl="0" marL="457200" rtl="0" algn="just">
              <a:lnSpc>
                <a:spcPct val="115000"/>
              </a:lnSpc>
              <a:spcBef>
                <a:spcPts val="1200"/>
              </a:spcBef>
              <a:spcAft>
                <a:spcPts val="0"/>
              </a:spcAft>
              <a:buNone/>
            </a:pPr>
            <a:r>
              <a:t/>
            </a:r>
            <a:endParaRPr b="1" sz="2100">
              <a:solidFill>
                <a:srgbClr val="172B4D"/>
              </a:solidFill>
              <a:highlight>
                <a:srgbClr val="FFFFFF"/>
              </a:highlight>
              <a:latin typeface="Arial"/>
              <a:ea typeface="Arial"/>
              <a:cs typeface="Arial"/>
              <a:sym typeface="Arial"/>
            </a:endParaRPr>
          </a:p>
          <a:p>
            <a:pPr indent="-50800" lvl="0" marL="228600" rtl="0" algn="l">
              <a:lnSpc>
                <a:spcPct val="90000"/>
              </a:lnSpc>
              <a:spcBef>
                <a:spcPts val="1200"/>
              </a:spcBef>
              <a:spcAft>
                <a:spcPts val="0"/>
              </a:spcAft>
              <a:buClr>
                <a:schemeClr val="dk1"/>
              </a:buClr>
              <a:buSzPct val="100000"/>
              <a:buNone/>
            </a:pPr>
            <a:r>
              <a:t/>
            </a:r>
            <a:endParaRPr/>
          </a:p>
        </p:txBody>
      </p:sp>
      <p:pic>
        <p:nvPicPr>
          <p:cNvPr descr="SRM Institute of Science and Technology - Wikipedia" id="136" name="Google Shape;136;p20"/>
          <p:cNvPicPr preferRelativeResize="0"/>
          <p:nvPr/>
        </p:nvPicPr>
        <p:blipFill rotWithShape="1">
          <a:blip r:embed="rId3">
            <a:alphaModFix/>
          </a:blip>
          <a:srcRect b="0" l="0" r="0" t="0"/>
          <a:stretch/>
        </p:blipFill>
        <p:spPr>
          <a:xfrm>
            <a:off x="10450286" y="71919"/>
            <a:ext cx="1661019" cy="165576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1"/>
          <p:cNvSpPr txBox="1"/>
          <p:nvPr>
            <p:ph type="title"/>
          </p:nvPr>
        </p:nvSpPr>
        <p:spPr>
          <a:xfrm>
            <a:off x="2717400" y="236950"/>
            <a:ext cx="67572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Objectives</a:t>
            </a:r>
            <a:endParaRPr/>
          </a:p>
        </p:txBody>
      </p:sp>
      <p:sp>
        <p:nvSpPr>
          <p:cNvPr id="142" name="Google Shape;142;p2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Autofit/>
          </a:bodyPr>
          <a:lstStyle/>
          <a:p>
            <a:pPr indent="-361950" lvl="0" marL="457200" rtl="0" algn="just">
              <a:lnSpc>
                <a:spcPct val="115000"/>
              </a:lnSpc>
              <a:spcBef>
                <a:spcPts val="1200"/>
              </a:spcBef>
              <a:spcAft>
                <a:spcPts val="0"/>
              </a:spcAft>
              <a:buClr>
                <a:srgbClr val="172B4D"/>
              </a:buClr>
              <a:buSzPts val="2100"/>
              <a:buChar char="➢"/>
            </a:pPr>
            <a:r>
              <a:rPr b="1" lang="en-US" sz="2100">
                <a:solidFill>
                  <a:srgbClr val="172B4D"/>
                </a:solidFill>
                <a:highlight>
                  <a:srgbClr val="FFFFFF"/>
                </a:highlight>
                <a:latin typeface="Arial"/>
                <a:ea typeface="Arial"/>
                <a:cs typeface="Arial"/>
                <a:sym typeface="Arial"/>
              </a:rPr>
              <a:t>Development of Personalized Financial Education Content:</a:t>
            </a:r>
            <a:endParaRPr b="1" sz="2100">
              <a:solidFill>
                <a:srgbClr val="172B4D"/>
              </a:solidFill>
              <a:highlight>
                <a:srgbClr val="FFFFFF"/>
              </a:highlight>
              <a:latin typeface="Arial"/>
              <a:ea typeface="Arial"/>
              <a:cs typeface="Arial"/>
              <a:sym typeface="Arial"/>
            </a:endParaRPr>
          </a:p>
          <a:p>
            <a:pPr indent="-361950" lvl="1" marL="914400" rtl="0" algn="just">
              <a:lnSpc>
                <a:spcPct val="115000"/>
              </a:lnSpc>
              <a:spcBef>
                <a:spcPts val="0"/>
              </a:spcBef>
              <a:spcAft>
                <a:spcPts val="0"/>
              </a:spcAft>
              <a:buClr>
                <a:srgbClr val="172B4D"/>
              </a:buClr>
              <a:buSzPts val="2100"/>
              <a:buChar char="○"/>
            </a:pPr>
            <a:r>
              <a:rPr b="1" lang="en-US" sz="2100">
                <a:solidFill>
                  <a:srgbClr val="172B4D"/>
                </a:solidFill>
                <a:highlight>
                  <a:srgbClr val="FFFFFF"/>
                </a:highlight>
                <a:latin typeface="Arial"/>
                <a:ea typeface="Arial"/>
                <a:cs typeface="Arial"/>
                <a:sym typeface="Arial"/>
              </a:rPr>
              <a:t>Objective:</a:t>
            </a:r>
            <a:r>
              <a:rPr lang="en-US" sz="2100">
                <a:solidFill>
                  <a:srgbClr val="172B4D"/>
                </a:solidFill>
                <a:highlight>
                  <a:srgbClr val="FFFFFF"/>
                </a:highlight>
                <a:latin typeface="Arial"/>
                <a:ea typeface="Arial"/>
                <a:cs typeface="Arial"/>
                <a:sym typeface="Arial"/>
              </a:rPr>
              <a:t> Deploy Amazon Personalize and AWS Comprehend to generate and recommend personalized financial education content.</a:t>
            </a:r>
            <a:endParaRPr sz="2100">
              <a:solidFill>
                <a:srgbClr val="172B4D"/>
              </a:solidFill>
              <a:highlight>
                <a:srgbClr val="FFFFFF"/>
              </a:highlight>
              <a:latin typeface="Arial"/>
              <a:ea typeface="Arial"/>
              <a:cs typeface="Arial"/>
              <a:sym typeface="Arial"/>
            </a:endParaRPr>
          </a:p>
          <a:p>
            <a:pPr indent="-361950" lvl="1" marL="914400" rtl="0" algn="just">
              <a:lnSpc>
                <a:spcPct val="115000"/>
              </a:lnSpc>
              <a:spcBef>
                <a:spcPts val="0"/>
              </a:spcBef>
              <a:spcAft>
                <a:spcPts val="0"/>
              </a:spcAft>
              <a:buClr>
                <a:srgbClr val="172B4D"/>
              </a:buClr>
              <a:buSzPts val="2100"/>
              <a:buChar char="○"/>
            </a:pPr>
            <a:r>
              <a:rPr b="1" lang="en-US" sz="2100">
                <a:solidFill>
                  <a:srgbClr val="172B4D"/>
                </a:solidFill>
                <a:highlight>
                  <a:srgbClr val="FFFFFF"/>
                </a:highlight>
                <a:latin typeface="Arial"/>
                <a:ea typeface="Arial"/>
                <a:cs typeface="Arial"/>
                <a:sym typeface="Arial"/>
              </a:rPr>
              <a:t>Expected Outcome: </a:t>
            </a:r>
            <a:r>
              <a:rPr lang="en-US" sz="2100">
                <a:solidFill>
                  <a:srgbClr val="172B4D"/>
                </a:solidFill>
                <a:highlight>
                  <a:srgbClr val="FFFFFF"/>
                </a:highlight>
                <a:latin typeface="Arial"/>
                <a:ea typeface="Arial"/>
                <a:cs typeface="Arial"/>
                <a:sym typeface="Arial"/>
              </a:rPr>
              <a:t>Increased user engagement and financial literacy through tailored educational resources.</a:t>
            </a:r>
            <a:endParaRPr sz="2100">
              <a:solidFill>
                <a:srgbClr val="172B4D"/>
              </a:solidFill>
              <a:highlight>
                <a:srgbClr val="FFFFFF"/>
              </a:highlight>
              <a:latin typeface="Arial"/>
              <a:ea typeface="Arial"/>
              <a:cs typeface="Arial"/>
              <a:sym typeface="Arial"/>
            </a:endParaRPr>
          </a:p>
          <a:p>
            <a:pPr indent="0" lvl="0" marL="0" rtl="0" algn="just">
              <a:lnSpc>
                <a:spcPct val="115000"/>
              </a:lnSpc>
              <a:spcBef>
                <a:spcPts val="1200"/>
              </a:spcBef>
              <a:spcAft>
                <a:spcPts val="0"/>
              </a:spcAft>
              <a:buClr>
                <a:schemeClr val="dk1"/>
              </a:buClr>
              <a:buSzPts val="1100"/>
              <a:buFont typeface="Arial"/>
              <a:buNone/>
            </a:pPr>
            <a:r>
              <a:t/>
            </a:r>
            <a:endParaRPr sz="2100">
              <a:solidFill>
                <a:srgbClr val="172B4D"/>
              </a:solidFill>
              <a:highlight>
                <a:srgbClr val="FFFFFF"/>
              </a:highlight>
              <a:latin typeface="Arial"/>
              <a:ea typeface="Arial"/>
              <a:cs typeface="Arial"/>
              <a:sym typeface="Arial"/>
            </a:endParaRPr>
          </a:p>
          <a:p>
            <a:pPr indent="-361950" lvl="0" marL="457200" rtl="0" algn="just">
              <a:lnSpc>
                <a:spcPct val="115000"/>
              </a:lnSpc>
              <a:spcBef>
                <a:spcPts val="1200"/>
              </a:spcBef>
              <a:spcAft>
                <a:spcPts val="0"/>
              </a:spcAft>
              <a:buClr>
                <a:srgbClr val="172B4D"/>
              </a:buClr>
              <a:buSzPts val="2100"/>
              <a:buChar char="➢"/>
            </a:pPr>
            <a:r>
              <a:rPr b="1" lang="en-US" sz="2100">
                <a:solidFill>
                  <a:srgbClr val="172B4D"/>
                </a:solidFill>
                <a:highlight>
                  <a:srgbClr val="FFFFFF"/>
                </a:highlight>
                <a:latin typeface="Arial"/>
                <a:ea typeface="Arial"/>
                <a:cs typeface="Arial"/>
                <a:sym typeface="Arial"/>
              </a:rPr>
              <a:t>Evaluation of User Feedback and Engagement:</a:t>
            </a:r>
            <a:endParaRPr b="1" sz="2100">
              <a:solidFill>
                <a:srgbClr val="172B4D"/>
              </a:solidFill>
              <a:highlight>
                <a:srgbClr val="FFFFFF"/>
              </a:highlight>
              <a:latin typeface="Arial"/>
              <a:ea typeface="Arial"/>
              <a:cs typeface="Arial"/>
              <a:sym typeface="Arial"/>
            </a:endParaRPr>
          </a:p>
          <a:p>
            <a:pPr indent="-361950" lvl="1" marL="914400" rtl="0" algn="just">
              <a:lnSpc>
                <a:spcPct val="115000"/>
              </a:lnSpc>
              <a:spcBef>
                <a:spcPts val="0"/>
              </a:spcBef>
              <a:spcAft>
                <a:spcPts val="0"/>
              </a:spcAft>
              <a:buClr>
                <a:srgbClr val="172B4D"/>
              </a:buClr>
              <a:buSzPts val="2100"/>
              <a:buChar char="○"/>
            </a:pPr>
            <a:r>
              <a:rPr b="1" lang="en-US" sz="2100">
                <a:solidFill>
                  <a:srgbClr val="172B4D"/>
                </a:solidFill>
                <a:highlight>
                  <a:srgbClr val="FFFFFF"/>
                </a:highlight>
                <a:latin typeface="Arial"/>
                <a:ea typeface="Arial"/>
                <a:cs typeface="Arial"/>
                <a:sym typeface="Arial"/>
              </a:rPr>
              <a:t>Objective:</a:t>
            </a:r>
            <a:r>
              <a:rPr lang="en-US" sz="2100">
                <a:solidFill>
                  <a:srgbClr val="172B4D"/>
                </a:solidFill>
                <a:highlight>
                  <a:srgbClr val="FFFFFF"/>
                </a:highlight>
                <a:latin typeface="Arial"/>
                <a:ea typeface="Arial"/>
                <a:cs typeface="Arial"/>
                <a:sym typeface="Arial"/>
              </a:rPr>
              <a:t> Implement AWS CloudWatch and Amazon SNS to monitor user activity and gather feedback in real-time.</a:t>
            </a:r>
            <a:endParaRPr sz="2100">
              <a:solidFill>
                <a:srgbClr val="172B4D"/>
              </a:solidFill>
              <a:highlight>
                <a:srgbClr val="FFFFFF"/>
              </a:highlight>
              <a:latin typeface="Arial"/>
              <a:ea typeface="Arial"/>
              <a:cs typeface="Arial"/>
              <a:sym typeface="Arial"/>
            </a:endParaRPr>
          </a:p>
          <a:p>
            <a:pPr indent="-361950" lvl="1" marL="914400" rtl="0" algn="just">
              <a:lnSpc>
                <a:spcPct val="115000"/>
              </a:lnSpc>
              <a:spcBef>
                <a:spcPts val="0"/>
              </a:spcBef>
              <a:spcAft>
                <a:spcPts val="0"/>
              </a:spcAft>
              <a:buClr>
                <a:srgbClr val="172B4D"/>
              </a:buClr>
              <a:buSzPts val="2100"/>
              <a:buChar char="○"/>
            </a:pPr>
            <a:r>
              <a:rPr b="1" lang="en-US" sz="2100">
                <a:solidFill>
                  <a:srgbClr val="172B4D"/>
                </a:solidFill>
                <a:highlight>
                  <a:srgbClr val="FFFFFF"/>
                </a:highlight>
                <a:latin typeface="Arial"/>
                <a:ea typeface="Arial"/>
                <a:cs typeface="Arial"/>
                <a:sym typeface="Arial"/>
              </a:rPr>
              <a:t>Expected Outcome: </a:t>
            </a:r>
            <a:r>
              <a:rPr lang="en-US" sz="2100">
                <a:solidFill>
                  <a:srgbClr val="172B4D"/>
                </a:solidFill>
                <a:highlight>
                  <a:srgbClr val="FFFFFF"/>
                </a:highlight>
                <a:latin typeface="Arial"/>
                <a:ea typeface="Arial"/>
                <a:cs typeface="Arial"/>
                <a:sym typeface="Arial"/>
              </a:rPr>
              <a:t>Continuous improvement of the app based on real-time user feedback and usage patterns.</a:t>
            </a:r>
            <a:endParaRPr sz="2100"/>
          </a:p>
        </p:txBody>
      </p:sp>
      <p:pic>
        <p:nvPicPr>
          <p:cNvPr descr="SRM Institute of Science and Technology - Wikipedia" id="143" name="Google Shape;143;p21"/>
          <p:cNvPicPr preferRelativeResize="0"/>
          <p:nvPr/>
        </p:nvPicPr>
        <p:blipFill rotWithShape="1">
          <a:blip r:embed="rId3">
            <a:alphaModFix/>
          </a:blip>
          <a:srcRect b="0" l="0" r="0" t="0"/>
          <a:stretch/>
        </p:blipFill>
        <p:spPr>
          <a:xfrm>
            <a:off x="10450286" y="71919"/>
            <a:ext cx="1661019" cy="165576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2"/>
          <p:cNvSpPr txBox="1"/>
          <p:nvPr>
            <p:ph type="title"/>
          </p:nvPr>
        </p:nvSpPr>
        <p:spPr>
          <a:xfrm>
            <a:off x="2717400" y="236950"/>
            <a:ext cx="67572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Objectives</a:t>
            </a:r>
            <a:endParaRPr/>
          </a:p>
        </p:txBody>
      </p:sp>
      <p:sp>
        <p:nvSpPr>
          <p:cNvPr id="149" name="Google Shape;149;p2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Autofit/>
          </a:bodyPr>
          <a:lstStyle/>
          <a:p>
            <a:pPr indent="-361950" lvl="0" marL="457200" rtl="0" algn="just">
              <a:lnSpc>
                <a:spcPct val="115000"/>
              </a:lnSpc>
              <a:spcBef>
                <a:spcPts val="1200"/>
              </a:spcBef>
              <a:spcAft>
                <a:spcPts val="0"/>
              </a:spcAft>
              <a:buClr>
                <a:srgbClr val="172B4D"/>
              </a:buClr>
              <a:buSzPts val="2100"/>
              <a:buChar char="➢"/>
            </a:pPr>
            <a:r>
              <a:rPr b="1" lang="en-US" sz="2100">
                <a:solidFill>
                  <a:srgbClr val="172B4D"/>
                </a:solidFill>
                <a:highlight>
                  <a:srgbClr val="FFFFFF"/>
                </a:highlight>
                <a:latin typeface="Arial"/>
                <a:ea typeface="Arial"/>
                <a:cs typeface="Arial"/>
                <a:sym typeface="Arial"/>
              </a:rPr>
              <a:t>Implementation of Advanced Analytics for Financial Insights:</a:t>
            </a:r>
            <a:endParaRPr b="1" sz="2100">
              <a:solidFill>
                <a:srgbClr val="172B4D"/>
              </a:solidFill>
              <a:highlight>
                <a:srgbClr val="FFFFFF"/>
              </a:highlight>
              <a:latin typeface="Arial"/>
              <a:ea typeface="Arial"/>
              <a:cs typeface="Arial"/>
              <a:sym typeface="Arial"/>
            </a:endParaRPr>
          </a:p>
          <a:p>
            <a:pPr indent="-361950" lvl="1" marL="914400" rtl="0" algn="just">
              <a:lnSpc>
                <a:spcPct val="115000"/>
              </a:lnSpc>
              <a:spcBef>
                <a:spcPts val="0"/>
              </a:spcBef>
              <a:spcAft>
                <a:spcPts val="0"/>
              </a:spcAft>
              <a:buClr>
                <a:srgbClr val="172B4D"/>
              </a:buClr>
              <a:buSzPts val="2100"/>
              <a:buChar char="○"/>
            </a:pPr>
            <a:r>
              <a:rPr b="1" lang="en-US" sz="2100">
                <a:solidFill>
                  <a:srgbClr val="172B4D"/>
                </a:solidFill>
                <a:highlight>
                  <a:srgbClr val="FFFFFF"/>
                </a:highlight>
                <a:latin typeface="Arial"/>
                <a:ea typeface="Arial"/>
                <a:cs typeface="Arial"/>
                <a:sym typeface="Arial"/>
              </a:rPr>
              <a:t>Objective: </a:t>
            </a:r>
            <a:r>
              <a:rPr lang="en-US" sz="2100">
                <a:solidFill>
                  <a:srgbClr val="172B4D"/>
                </a:solidFill>
                <a:highlight>
                  <a:srgbClr val="FFFFFF"/>
                </a:highlight>
                <a:latin typeface="Arial"/>
                <a:ea typeface="Arial"/>
                <a:cs typeface="Arial"/>
                <a:sym typeface="Arial"/>
              </a:rPr>
              <a:t>Use Amazon Redshift and AWS Glue to perform advanced analytics on user financial data, providing deeper insights and trends.</a:t>
            </a:r>
            <a:endParaRPr sz="2100">
              <a:solidFill>
                <a:srgbClr val="172B4D"/>
              </a:solidFill>
              <a:highlight>
                <a:srgbClr val="FFFFFF"/>
              </a:highlight>
              <a:latin typeface="Arial"/>
              <a:ea typeface="Arial"/>
              <a:cs typeface="Arial"/>
              <a:sym typeface="Arial"/>
            </a:endParaRPr>
          </a:p>
          <a:p>
            <a:pPr indent="-361950" lvl="1" marL="914400" rtl="0" algn="just">
              <a:lnSpc>
                <a:spcPct val="115000"/>
              </a:lnSpc>
              <a:spcBef>
                <a:spcPts val="0"/>
              </a:spcBef>
              <a:spcAft>
                <a:spcPts val="0"/>
              </a:spcAft>
              <a:buClr>
                <a:srgbClr val="172B4D"/>
              </a:buClr>
              <a:buSzPts val="2100"/>
              <a:buChar char="○"/>
            </a:pPr>
            <a:r>
              <a:rPr b="1" lang="en-US" sz="2100">
                <a:solidFill>
                  <a:srgbClr val="172B4D"/>
                </a:solidFill>
                <a:highlight>
                  <a:srgbClr val="FFFFFF"/>
                </a:highlight>
                <a:latin typeface="Arial"/>
                <a:ea typeface="Arial"/>
                <a:cs typeface="Arial"/>
                <a:sym typeface="Arial"/>
              </a:rPr>
              <a:t>Expected Outcome: </a:t>
            </a:r>
            <a:r>
              <a:rPr lang="en-US" sz="2100">
                <a:solidFill>
                  <a:srgbClr val="172B4D"/>
                </a:solidFill>
                <a:highlight>
                  <a:srgbClr val="FFFFFF"/>
                </a:highlight>
                <a:latin typeface="Arial"/>
                <a:ea typeface="Arial"/>
                <a:cs typeface="Arial"/>
                <a:sym typeface="Arial"/>
              </a:rPr>
              <a:t>More accurate and insightful financial advice, helping users make better-informed decisions.</a:t>
            </a:r>
            <a:endParaRPr sz="2100">
              <a:solidFill>
                <a:srgbClr val="172B4D"/>
              </a:solidFill>
              <a:highlight>
                <a:srgbClr val="FFFFFF"/>
              </a:highlight>
              <a:latin typeface="Arial"/>
              <a:ea typeface="Arial"/>
              <a:cs typeface="Arial"/>
              <a:sym typeface="Arial"/>
            </a:endParaRPr>
          </a:p>
          <a:p>
            <a:pPr indent="0" lvl="0" marL="0" rtl="0" algn="just">
              <a:lnSpc>
                <a:spcPct val="115000"/>
              </a:lnSpc>
              <a:spcBef>
                <a:spcPts val="1200"/>
              </a:spcBef>
              <a:spcAft>
                <a:spcPts val="0"/>
              </a:spcAft>
              <a:buClr>
                <a:schemeClr val="dk1"/>
              </a:buClr>
              <a:buSzPts val="1100"/>
              <a:buFont typeface="Arial"/>
              <a:buNone/>
            </a:pPr>
            <a:r>
              <a:t/>
            </a:r>
            <a:endParaRPr sz="2100">
              <a:solidFill>
                <a:srgbClr val="172B4D"/>
              </a:solidFill>
              <a:highlight>
                <a:srgbClr val="FFFFFF"/>
              </a:highlight>
              <a:latin typeface="Arial"/>
              <a:ea typeface="Arial"/>
              <a:cs typeface="Arial"/>
              <a:sym typeface="Arial"/>
            </a:endParaRPr>
          </a:p>
          <a:p>
            <a:pPr indent="-361950" lvl="0" marL="457200" rtl="0" algn="just">
              <a:lnSpc>
                <a:spcPct val="115000"/>
              </a:lnSpc>
              <a:spcBef>
                <a:spcPts val="1200"/>
              </a:spcBef>
              <a:spcAft>
                <a:spcPts val="0"/>
              </a:spcAft>
              <a:buClr>
                <a:srgbClr val="172B4D"/>
              </a:buClr>
              <a:buSzPts val="2100"/>
              <a:buChar char="➢"/>
            </a:pPr>
            <a:r>
              <a:rPr b="1" lang="en-US" sz="2100">
                <a:solidFill>
                  <a:srgbClr val="172B4D"/>
                </a:solidFill>
                <a:highlight>
                  <a:srgbClr val="FFFFFF"/>
                </a:highlight>
                <a:latin typeface="Arial"/>
                <a:ea typeface="Arial"/>
                <a:cs typeface="Arial"/>
                <a:sym typeface="Arial"/>
              </a:rPr>
              <a:t>Assessment of AI Model Performance and Improvement:</a:t>
            </a:r>
            <a:endParaRPr b="1" sz="2100">
              <a:solidFill>
                <a:srgbClr val="172B4D"/>
              </a:solidFill>
              <a:highlight>
                <a:srgbClr val="FFFFFF"/>
              </a:highlight>
              <a:latin typeface="Arial"/>
              <a:ea typeface="Arial"/>
              <a:cs typeface="Arial"/>
              <a:sym typeface="Arial"/>
            </a:endParaRPr>
          </a:p>
          <a:p>
            <a:pPr indent="-361950" lvl="1" marL="914400" rtl="0" algn="just">
              <a:lnSpc>
                <a:spcPct val="115000"/>
              </a:lnSpc>
              <a:spcBef>
                <a:spcPts val="0"/>
              </a:spcBef>
              <a:spcAft>
                <a:spcPts val="0"/>
              </a:spcAft>
              <a:buClr>
                <a:srgbClr val="172B4D"/>
              </a:buClr>
              <a:buSzPts val="2100"/>
              <a:buChar char="○"/>
            </a:pPr>
            <a:r>
              <a:rPr b="1" lang="en-US" sz="2100">
                <a:solidFill>
                  <a:srgbClr val="172B4D"/>
                </a:solidFill>
                <a:highlight>
                  <a:srgbClr val="FFFFFF"/>
                </a:highlight>
                <a:latin typeface="Arial"/>
                <a:ea typeface="Arial"/>
                <a:cs typeface="Arial"/>
                <a:sym typeface="Arial"/>
              </a:rPr>
              <a:t>Objective: </a:t>
            </a:r>
            <a:r>
              <a:rPr lang="en-US" sz="2100">
                <a:solidFill>
                  <a:srgbClr val="172B4D"/>
                </a:solidFill>
                <a:highlight>
                  <a:srgbClr val="FFFFFF"/>
                </a:highlight>
                <a:latin typeface="Arial"/>
                <a:ea typeface="Arial"/>
                <a:cs typeface="Arial"/>
                <a:sym typeface="Arial"/>
              </a:rPr>
              <a:t>Leverage AWS SageMaker for training, testing, and refining AI models to improve the accuracy of financial recommendations.</a:t>
            </a:r>
            <a:endParaRPr sz="2100">
              <a:solidFill>
                <a:srgbClr val="172B4D"/>
              </a:solidFill>
              <a:highlight>
                <a:srgbClr val="FFFFFF"/>
              </a:highlight>
              <a:latin typeface="Arial"/>
              <a:ea typeface="Arial"/>
              <a:cs typeface="Arial"/>
              <a:sym typeface="Arial"/>
            </a:endParaRPr>
          </a:p>
          <a:p>
            <a:pPr indent="-361950" lvl="1" marL="914400" rtl="0" algn="just">
              <a:lnSpc>
                <a:spcPct val="115000"/>
              </a:lnSpc>
              <a:spcBef>
                <a:spcPts val="0"/>
              </a:spcBef>
              <a:spcAft>
                <a:spcPts val="0"/>
              </a:spcAft>
              <a:buClr>
                <a:srgbClr val="172B4D"/>
              </a:buClr>
              <a:buSzPts val="2100"/>
              <a:buChar char="○"/>
            </a:pPr>
            <a:r>
              <a:rPr b="1" lang="en-US" sz="2100">
                <a:solidFill>
                  <a:srgbClr val="172B4D"/>
                </a:solidFill>
                <a:highlight>
                  <a:srgbClr val="FFFFFF"/>
                </a:highlight>
                <a:latin typeface="Arial"/>
                <a:ea typeface="Arial"/>
                <a:cs typeface="Arial"/>
                <a:sym typeface="Arial"/>
              </a:rPr>
              <a:t>Expected Outcome: </a:t>
            </a:r>
            <a:r>
              <a:rPr lang="en-US" sz="2100">
                <a:solidFill>
                  <a:srgbClr val="172B4D"/>
                </a:solidFill>
                <a:highlight>
                  <a:srgbClr val="FFFFFF"/>
                </a:highlight>
                <a:latin typeface="Arial"/>
                <a:ea typeface="Arial"/>
                <a:cs typeface="Arial"/>
                <a:sym typeface="Arial"/>
              </a:rPr>
              <a:t>Continuous enhancement of AI models leading to more precise and personalized financial advice.</a:t>
            </a:r>
            <a:endParaRPr sz="2100">
              <a:solidFill>
                <a:srgbClr val="172B4D"/>
              </a:solidFill>
              <a:highlight>
                <a:srgbClr val="FFFFFF"/>
              </a:highlight>
              <a:latin typeface="Arial"/>
              <a:ea typeface="Arial"/>
              <a:cs typeface="Arial"/>
              <a:sym typeface="Arial"/>
            </a:endParaRPr>
          </a:p>
          <a:p>
            <a:pPr indent="-50800" lvl="0" marL="228600" rtl="0" algn="just">
              <a:lnSpc>
                <a:spcPct val="90000"/>
              </a:lnSpc>
              <a:spcBef>
                <a:spcPts val="1200"/>
              </a:spcBef>
              <a:spcAft>
                <a:spcPts val="0"/>
              </a:spcAft>
              <a:buClr>
                <a:schemeClr val="dk1"/>
              </a:buClr>
              <a:buSzPts val="2800"/>
              <a:buNone/>
            </a:pPr>
            <a:r>
              <a:t/>
            </a:r>
            <a:endParaRPr sz="2100"/>
          </a:p>
        </p:txBody>
      </p:sp>
      <p:pic>
        <p:nvPicPr>
          <p:cNvPr descr="SRM Institute of Science and Technology - Wikipedia" id="150" name="Google Shape;150;p22"/>
          <p:cNvPicPr preferRelativeResize="0"/>
          <p:nvPr/>
        </p:nvPicPr>
        <p:blipFill rotWithShape="1">
          <a:blip r:embed="rId3">
            <a:alphaModFix/>
          </a:blip>
          <a:srcRect b="0" l="0" r="0" t="0"/>
          <a:stretch/>
        </p:blipFill>
        <p:spPr>
          <a:xfrm>
            <a:off x="10450286" y="71919"/>
            <a:ext cx="1661019" cy="165576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3"/>
          <p:cNvSpPr txBox="1"/>
          <p:nvPr>
            <p:ph type="title"/>
          </p:nvPr>
        </p:nvSpPr>
        <p:spPr>
          <a:xfrm>
            <a:off x="2717400" y="236950"/>
            <a:ext cx="67572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Objectives</a:t>
            </a:r>
            <a:endParaRPr/>
          </a:p>
        </p:txBody>
      </p:sp>
      <p:sp>
        <p:nvSpPr>
          <p:cNvPr id="156" name="Google Shape;156;p2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Autofit/>
          </a:bodyPr>
          <a:lstStyle/>
          <a:p>
            <a:pPr indent="-361950" lvl="0" marL="457200" rtl="0" algn="just">
              <a:lnSpc>
                <a:spcPct val="115000"/>
              </a:lnSpc>
              <a:spcBef>
                <a:spcPts val="1200"/>
              </a:spcBef>
              <a:spcAft>
                <a:spcPts val="0"/>
              </a:spcAft>
              <a:buClr>
                <a:srgbClr val="172B4D"/>
              </a:buClr>
              <a:buSzPts val="2100"/>
              <a:buChar char="➢"/>
            </a:pPr>
            <a:r>
              <a:rPr b="1" lang="en-US" sz="2100">
                <a:solidFill>
                  <a:srgbClr val="172B4D"/>
                </a:solidFill>
                <a:highlight>
                  <a:srgbClr val="FFFFFF"/>
                </a:highlight>
                <a:latin typeface="Arial"/>
                <a:ea typeface="Arial"/>
                <a:cs typeface="Arial"/>
                <a:sym typeface="Arial"/>
              </a:rPr>
              <a:t>Exploration of Market Trends and User Preferences:</a:t>
            </a:r>
            <a:endParaRPr b="1" sz="2100">
              <a:solidFill>
                <a:srgbClr val="172B4D"/>
              </a:solidFill>
              <a:highlight>
                <a:srgbClr val="FFFFFF"/>
              </a:highlight>
              <a:latin typeface="Arial"/>
              <a:ea typeface="Arial"/>
              <a:cs typeface="Arial"/>
              <a:sym typeface="Arial"/>
            </a:endParaRPr>
          </a:p>
          <a:p>
            <a:pPr indent="-361950" lvl="1" marL="914400" rtl="0" algn="just">
              <a:lnSpc>
                <a:spcPct val="115000"/>
              </a:lnSpc>
              <a:spcBef>
                <a:spcPts val="0"/>
              </a:spcBef>
              <a:spcAft>
                <a:spcPts val="0"/>
              </a:spcAft>
              <a:buClr>
                <a:srgbClr val="172B4D"/>
              </a:buClr>
              <a:buSzPts val="2100"/>
              <a:buChar char="○"/>
            </a:pPr>
            <a:r>
              <a:rPr b="1" lang="en-US" sz="2100">
                <a:solidFill>
                  <a:srgbClr val="172B4D"/>
                </a:solidFill>
                <a:highlight>
                  <a:srgbClr val="FFFFFF"/>
                </a:highlight>
                <a:latin typeface="Arial"/>
                <a:ea typeface="Arial"/>
                <a:cs typeface="Arial"/>
                <a:sym typeface="Arial"/>
              </a:rPr>
              <a:t>Objective:</a:t>
            </a:r>
            <a:r>
              <a:rPr lang="en-US" sz="2100">
                <a:solidFill>
                  <a:srgbClr val="172B4D"/>
                </a:solidFill>
                <a:highlight>
                  <a:srgbClr val="FFFFFF"/>
                </a:highlight>
                <a:latin typeface="Arial"/>
                <a:ea typeface="Arial"/>
                <a:cs typeface="Arial"/>
                <a:sym typeface="Arial"/>
              </a:rPr>
              <a:t> Use AWS QuickSight for visualizing market trends and user preferences based on collected data.</a:t>
            </a:r>
            <a:endParaRPr sz="2100">
              <a:solidFill>
                <a:srgbClr val="172B4D"/>
              </a:solidFill>
              <a:highlight>
                <a:srgbClr val="FFFFFF"/>
              </a:highlight>
              <a:latin typeface="Arial"/>
              <a:ea typeface="Arial"/>
              <a:cs typeface="Arial"/>
              <a:sym typeface="Arial"/>
            </a:endParaRPr>
          </a:p>
          <a:p>
            <a:pPr indent="-361950" lvl="1" marL="914400" rtl="0" algn="just">
              <a:lnSpc>
                <a:spcPct val="115000"/>
              </a:lnSpc>
              <a:spcBef>
                <a:spcPts val="0"/>
              </a:spcBef>
              <a:spcAft>
                <a:spcPts val="0"/>
              </a:spcAft>
              <a:buClr>
                <a:srgbClr val="172B4D"/>
              </a:buClr>
              <a:buSzPts val="2100"/>
              <a:buChar char="○"/>
            </a:pPr>
            <a:r>
              <a:rPr b="1" lang="en-US" sz="2100">
                <a:solidFill>
                  <a:srgbClr val="172B4D"/>
                </a:solidFill>
                <a:highlight>
                  <a:srgbClr val="FFFFFF"/>
                </a:highlight>
                <a:latin typeface="Arial"/>
                <a:ea typeface="Arial"/>
                <a:cs typeface="Arial"/>
                <a:sym typeface="Arial"/>
              </a:rPr>
              <a:t>Expected Outcome:</a:t>
            </a:r>
            <a:r>
              <a:rPr lang="en-US" sz="2100">
                <a:solidFill>
                  <a:srgbClr val="172B4D"/>
                </a:solidFill>
                <a:highlight>
                  <a:srgbClr val="FFFFFF"/>
                </a:highlight>
                <a:latin typeface="Arial"/>
                <a:ea typeface="Arial"/>
                <a:cs typeface="Arial"/>
                <a:sym typeface="Arial"/>
              </a:rPr>
              <a:t> Data-driven decisions in app development and feature enhancements, aligning the product with user needs and market demands.</a:t>
            </a:r>
            <a:endParaRPr sz="2100">
              <a:solidFill>
                <a:srgbClr val="172B4D"/>
              </a:solidFill>
              <a:highlight>
                <a:srgbClr val="FFFFFF"/>
              </a:highlight>
              <a:latin typeface="Arial"/>
              <a:ea typeface="Arial"/>
              <a:cs typeface="Arial"/>
              <a:sym typeface="Arial"/>
            </a:endParaRPr>
          </a:p>
          <a:p>
            <a:pPr indent="0" lvl="0" marL="0" rtl="0" algn="just">
              <a:lnSpc>
                <a:spcPct val="115000"/>
              </a:lnSpc>
              <a:spcBef>
                <a:spcPts val="1200"/>
              </a:spcBef>
              <a:spcAft>
                <a:spcPts val="0"/>
              </a:spcAft>
              <a:buClr>
                <a:schemeClr val="dk1"/>
              </a:buClr>
              <a:buSzPts val="1100"/>
              <a:buFont typeface="Arial"/>
              <a:buNone/>
            </a:pPr>
            <a:r>
              <a:t/>
            </a:r>
            <a:endParaRPr sz="2100">
              <a:solidFill>
                <a:srgbClr val="172B4D"/>
              </a:solidFill>
              <a:highlight>
                <a:srgbClr val="FFFFFF"/>
              </a:highlight>
              <a:latin typeface="Arial"/>
              <a:ea typeface="Arial"/>
              <a:cs typeface="Arial"/>
              <a:sym typeface="Arial"/>
            </a:endParaRPr>
          </a:p>
          <a:p>
            <a:pPr indent="-361950" lvl="0" marL="457200" rtl="0" algn="just">
              <a:lnSpc>
                <a:spcPct val="115000"/>
              </a:lnSpc>
              <a:spcBef>
                <a:spcPts val="1200"/>
              </a:spcBef>
              <a:spcAft>
                <a:spcPts val="0"/>
              </a:spcAft>
              <a:buClr>
                <a:srgbClr val="172B4D"/>
              </a:buClr>
              <a:buSzPts val="2100"/>
              <a:buChar char="➢"/>
            </a:pPr>
            <a:r>
              <a:rPr b="1" lang="en-US" sz="2100">
                <a:solidFill>
                  <a:srgbClr val="172B4D"/>
                </a:solidFill>
                <a:highlight>
                  <a:srgbClr val="FFFFFF"/>
                </a:highlight>
                <a:latin typeface="Arial"/>
                <a:ea typeface="Arial"/>
                <a:cs typeface="Arial"/>
                <a:sym typeface="Arial"/>
              </a:rPr>
              <a:t>Implementation of Real-Time Notifications and Alerts:</a:t>
            </a:r>
            <a:endParaRPr b="1" sz="2100">
              <a:solidFill>
                <a:srgbClr val="172B4D"/>
              </a:solidFill>
              <a:highlight>
                <a:srgbClr val="FFFFFF"/>
              </a:highlight>
              <a:latin typeface="Arial"/>
              <a:ea typeface="Arial"/>
              <a:cs typeface="Arial"/>
              <a:sym typeface="Arial"/>
            </a:endParaRPr>
          </a:p>
          <a:p>
            <a:pPr indent="-361950" lvl="1" marL="914400" rtl="0" algn="just">
              <a:lnSpc>
                <a:spcPct val="115000"/>
              </a:lnSpc>
              <a:spcBef>
                <a:spcPts val="0"/>
              </a:spcBef>
              <a:spcAft>
                <a:spcPts val="0"/>
              </a:spcAft>
              <a:buClr>
                <a:srgbClr val="172B4D"/>
              </a:buClr>
              <a:buSzPts val="2100"/>
              <a:buChar char="○"/>
            </a:pPr>
            <a:r>
              <a:rPr b="1" lang="en-US" sz="2100">
                <a:solidFill>
                  <a:srgbClr val="172B4D"/>
                </a:solidFill>
                <a:highlight>
                  <a:srgbClr val="FFFFFF"/>
                </a:highlight>
                <a:latin typeface="Arial"/>
                <a:ea typeface="Arial"/>
                <a:cs typeface="Arial"/>
                <a:sym typeface="Arial"/>
              </a:rPr>
              <a:t>Objective: </a:t>
            </a:r>
            <a:r>
              <a:rPr lang="en-US" sz="2100">
                <a:solidFill>
                  <a:srgbClr val="172B4D"/>
                </a:solidFill>
                <a:highlight>
                  <a:srgbClr val="FFFFFF"/>
                </a:highlight>
                <a:latin typeface="Arial"/>
                <a:ea typeface="Arial"/>
                <a:cs typeface="Arial"/>
                <a:sym typeface="Arial"/>
              </a:rPr>
              <a:t>Utilize Amazon SNS and AWS Lambda to create a system for real-time notifications and alerts for users regarding their financial activities.</a:t>
            </a:r>
            <a:endParaRPr sz="2100">
              <a:solidFill>
                <a:srgbClr val="172B4D"/>
              </a:solidFill>
              <a:highlight>
                <a:srgbClr val="FFFFFF"/>
              </a:highlight>
              <a:latin typeface="Arial"/>
              <a:ea typeface="Arial"/>
              <a:cs typeface="Arial"/>
              <a:sym typeface="Arial"/>
            </a:endParaRPr>
          </a:p>
          <a:p>
            <a:pPr indent="-361950" lvl="1" marL="914400" rtl="0" algn="just">
              <a:lnSpc>
                <a:spcPct val="115000"/>
              </a:lnSpc>
              <a:spcBef>
                <a:spcPts val="0"/>
              </a:spcBef>
              <a:spcAft>
                <a:spcPts val="0"/>
              </a:spcAft>
              <a:buClr>
                <a:srgbClr val="172B4D"/>
              </a:buClr>
              <a:buSzPts val="2100"/>
              <a:buChar char="○"/>
            </a:pPr>
            <a:r>
              <a:rPr b="1" lang="en-US" sz="2100">
                <a:solidFill>
                  <a:srgbClr val="172B4D"/>
                </a:solidFill>
                <a:highlight>
                  <a:srgbClr val="FFFFFF"/>
                </a:highlight>
                <a:latin typeface="Arial"/>
                <a:ea typeface="Arial"/>
                <a:cs typeface="Arial"/>
                <a:sym typeface="Arial"/>
              </a:rPr>
              <a:t>Expected Outcome:</a:t>
            </a:r>
            <a:r>
              <a:rPr lang="en-US" sz="2100">
                <a:solidFill>
                  <a:srgbClr val="172B4D"/>
                </a:solidFill>
                <a:highlight>
                  <a:srgbClr val="FFFFFF"/>
                </a:highlight>
                <a:latin typeface="Arial"/>
                <a:ea typeface="Arial"/>
                <a:cs typeface="Arial"/>
                <a:sym typeface="Arial"/>
              </a:rPr>
              <a:t> Proactive user engagement and timely financial advice, enhancing the overall user experience.</a:t>
            </a:r>
            <a:endParaRPr sz="2100"/>
          </a:p>
        </p:txBody>
      </p:sp>
      <p:pic>
        <p:nvPicPr>
          <p:cNvPr descr="SRM Institute of Science and Technology - Wikipedia" id="157" name="Google Shape;157;p23"/>
          <p:cNvPicPr preferRelativeResize="0"/>
          <p:nvPr/>
        </p:nvPicPr>
        <p:blipFill rotWithShape="1">
          <a:blip r:embed="rId3">
            <a:alphaModFix/>
          </a:blip>
          <a:srcRect b="0" l="0" r="0" t="0"/>
          <a:stretch/>
        </p:blipFill>
        <p:spPr>
          <a:xfrm>
            <a:off x="10450286" y="71919"/>
            <a:ext cx="1661019" cy="165576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4"/>
          <p:cNvSpPr txBox="1"/>
          <p:nvPr>
            <p:ph type="title"/>
          </p:nvPr>
        </p:nvSpPr>
        <p:spPr>
          <a:xfrm>
            <a:off x="2717400" y="236950"/>
            <a:ext cx="6757200" cy="1325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Literature Review</a:t>
            </a:r>
            <a:endParaRPr/>
          </a:p>
        </p:txBody>
      </p:sp>
      <p:pic>
        <p:nvPicPr>
          <p:cNvPr descr="SRM Institute of Science and Technology - Wikipedia" id="163" name="Google Shape;163;p24"/>
          <p:cNvPicPr preferRelativeResize="0"/>
          <p:nvPr/>
        </p:nvPicPr>
        <p:blipFill rotWithShape="1">
          <a:blip r:embed="rId3">
            <a:alphaModFix/>
          </a:blip>
          <a:srcRect b="0" l="0" r="0" t="0"/>
          <a:stretch/>
        </p:blipFill>
        <p:spPr>
          <a:xfrm>
            <a:off x="10530986" y="-6"/>
            <a:ext cx="1661019" cy="1655763"/>
          </a:xfrm>
          <a:prstGeom prst="rect">
            <a:avLst/>
          </a:prstGeom>
          <a:noFill/>
          <a:ln>
            <a:noFill/>
          </a:ln>
        </p:spPr>
      </p:pic>
      <p:pic>
        <p:nvPicPr>
          <p:cNvPr id="164" name="Google Shape;164;p24"/>
          <p:cNvPicPr preferRelativeResize="0"/>
          <p:nvPr/>
        </p:nvPicPr>
        <p:blipFill>
          <a:blip r:embed="rId4">
            <a:alphaModFix/>
          </a:blip>
          <a:stretch>
            <a:fillRect/>
          </a:stretch>
        </p:blipFill>
        <p:spPr>
          <a:xfrm>
            <a:off x="152400" y="1655750"/>
            <a:ext cx="11936050" cy="52022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5"/>
          <p:cNvSpPr txBox="1"/>
          <p:nvPr>
            <p:ph type="title"/>
          </p:nvPr>
        </p:nvSpPr>
        <p:spPr>
          <a:xfrm>
            <a:off x="2717400" y="236950"/>
            <a:ext cx="67572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Literature Review</a:t>
            </a:r>
            <a:endParaRPr/>
          </a:p>
        </p:txBody>
      </p:sp>
      <p:pic>
        <p:nvPicPr>
          <p:cNvPr descr="SRM Institute of Science and Technology - Wikipedia" id="170" name="Google Shape;170;p25"/>
          <p:cNvPicPr preferRelativeResize="0"/>
          <p:nvPr/>
        </p:nvPicPr>
        <p:blipFill rotWithShape="1">
          <a:blip r:embed="rId3">
            <a:alphaModFix/>
          </a:blip>
          <a:srcRect b="0" l="0" r="0" t="0"/>
          <a:stretch/>
        </p:blipFill>
        <p:spPr>
          <a:xfrm>
            <a:off x="10450286" y="71919"/>
            <a:ext cx="1661019" cy="1655763"/>
          </a:xfrm>
          <a:prstGeom prst="rect">
            <a:avLst/>
          </a:prstGeom>
          <a:noFill/>
          <a:ln>
            <a:noFill/>
          </a:ln>
        </p:spPr>
      </p:pic>
      <p:pic>
        <p:nvPicPr>
          <p:cNvPr id="171" name="Google Shape;171;p25"/>
          <p:cNvPicPr preferRelativeResize="0"/>
          <p:nvPr/>
        </p:nvPicPr>
        <p:blipFill>
          <a:blip r:embed="rId4">
            <a:alphaModFix/>
          </a:blip>
          <a:stretch>
            <a:fillRect/>
          </a:stretch>
        </p:blipFill>
        <p:spPr>
          <a:xfrm>
            <a:off x="152400" y="1880073"/>
            <a:ext cx="11887198" cy="44103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6"/>
          <p:cNvSpPr txBox="1"/>
          <p:nvPr>
            <p:ph type="title"/>
          </p:nvPr>
        </p:nvSpPr>
        <p:spPr>
          <a:xfrm>
            <a:off x="2717400" y="236950"/>
            <a:ext cx="67572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Literature Review</a:t>
            </a:r>
            <a:endParaRPr/>
          </a:p>
        </p:txBody>
      </p:sp>
      <p:pic>
        <p:nvPicPr>
          <p:cNvPr descr="SRM Institute of Science and Technology - Wikipedia" id="177" name="Google Shape;177;p26"/>
          <p:cNvPicPr preferRelativeResize="0"/>
          <p:nvPr/>
        </p:nvPicPr>
        <p:blipFill rotWithShape="1">
          <a:blip r:embed="rId3">
            <a:alphaModFix/>
          </a:blip>
          <a:srcRect b="0" l="0" r="0" t="0"/>
          <a:stretch/>
        </p:blipFill>
        <p:spPr>
          <a:xfrm>
            <a:off x="10450286" y="71919"/>
            <a:ext cx="1661019" cy="1655763"/>
          </a:xfrm>
          <a:prstGeom prst="rect">
            <a:avLst/>
          </a:prstGeom>
          <a:noFill/>
          <a:ln>
            <a:noFill/>
          </a:ln>
        </p:spPr>
      </p:pic>
      <p:pic>
        <p:nvPicPr>
          <p:cNvPr id="178" name="Google Shape;178;p26"/>
          <p:cNvPicPr preferRelativeResize="0"/>
          <p:nvPr/>
        </p:nvPicPr>
        <p:blipFill>
          <a:blip r:embed="rId4">
            <a:alphaModFix/>
          </a:blip>
          <a:stretch>
            <a:fillRect/>
          </a:stretch>
        </p:blipFill>
        <p:spPr>
          <a:xfrm>
            <a:off x="152400" y="1727675"/>
            <a:ext cx="11877675" cy="4840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7"/>
          <p:cNvSpPr txBox="1"/>
          <p:nvPr>
            <p:ph type="title"/>
          </p:nvPr>
        </p:nvSpPr>
        <p:spPr>
          <a:xfrm>
            <a:off x="2717400" y="236950"/>
            <a:ext cx="67572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Literature Review</a:t>
            </a:r>
            <a:endParaRPr/>
          </a:p>
        </p:txBody>
      </p:sp>
      <p:pic>
        <p:nvPicPr>
          <p:cNvPr descr="SRM Institute of Science and Technology - Wikipedia" id="184" name="Google Shape;184;p27"/>
          <p:cNvPicPr preferRelativeResize="0"/>
          <p:nvPr/>
        </p:nvPicPr>
        <p:blipFill rotWithShape="1">
          <a:blip r:embed="rId3">
            <a:alphaModFix/>
          </a:blip>
          <a:srcRect b="0" l="0" r="0" t="0"/>
          <a:stretch/>
        </p:blipFill>
        <p:spPr>
          <a:xfrm>
            <a:off x="10450286" y="71919"/>
            <a:ext cx="1661019" cy="1655763"/>
          </a:xfrm>
          <a:prstGeom prst="rect">
            <a:avLst/>
          </a:prstGeom>
          <a:noFill/>
          <a:ln>
            <a:noFill/>
          </a:ln>
        </p:spPr>
      </p:pic>
      <p:pic>
        <p:nvPicPr>
          <p:cNvPr id="185" name="Google Shape;185;p27"/>
          <p:cNvPicPr preferRelativeResize="0"/>
          <p:nvPr/>
        </p:nvPicPr>
        <p:blipFill>
          <a:blip r:embed="rId4">
            <a:alphaModFix/>
          </a:blip>
          <a:stretch>
            <a:fillRect/>
          </a:stretch>
        </p:blipFill>
        <p:spPr>
          <a:xfrm>
            <a:off x="152400" y="1727675"/>
            <a:ext cx="11852574" cy="48703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8"/>
          <p:cNvSpPr txBox="1"/>
          <p:nvPr>
            <p:ph type="title"/>
          </p:nvPr>
        </p:nvSpPr>
        <p:spPr>
          <a:xfrm>
            <a:off x="2717400" y="236950"/>
            <a:ext cx="6757200" cy="1325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Literature Review</a:t>
            </a:r>
            <a:endParaRPr/>
          </a:p>
        </p:txBody>
      </p:sp>
      <p:sp>
        <p:nvSpPr>
          <p:cNvPr id="191" name="Google Shape;191;p28"/>
          <p:cNvSpPr txBox="1"/>
          <p:nvPr>
            <p:ph idx="1" type="body"/>
          </p:nvPr>
        </p:nvSpPr>
        <p:spPr>
          <a:xfrm rot="10800000">
            <a:off x="13771600" y="6721825"/>
            <a:ext cx="862500" cy="55500"/>
          </a:xfrm>
          <a:prstGeom prst="rect">
            <a:avLst/>
          </a:prstGeom>
          <a:noFill/>
          <a:ln>
            <a:noFill/>
          </a:ln>
        </p:spPr>
        <p:txBody>
          <a:bodyPr anchorCtr="0" anchor="t" bIns="45700" lIns="91425" spcFirstLastPara="1" rIns="91425" wrap="square" tIns="45700">
            <a:normAutofit fontScale="25000" lnSpcReduction="20000"/>
          </a:bodyPr>
          <a:lstStyle/>
          <a:p>
            <a:pPr indent="-50800" lvl="0" marL="228600" rtl="0" algn="l">
              <a:lnSpc>
                <a:spcPct val="90000"/>
              </a:lnSpc>
              <a:spcBef>
                <a:spcPts val="0"/>
              </a:spcBef>
              <a:spcAft>
                <a:spcPts val="0"/>
              </a:spcAft>
              <a:buClr>
                <a:schemeClr val="dk1"/>
              </a:buClr>
              <a:buSzPct val="100000"/>
              <a:buNone/>
            </a:pPr>
            <a:r>
              <a:t/>
            </a:r>
            <a:endParaRPr/>
          </a:p>
        </p:txBody>
      </p:sp>
      <p:pic>
        <p:nvPicPr>
          <p:cNvPr descr="SRM Institute of Science and Technology - Wikipedia" id="192" name="Google Shape;192;p28"/>
          <p:cNvPicPr preferRelativeResize="0"/>
          <p:nvPr/>
        </p:nvPicPr>
        <p:blipFill rotWithShape="1">
          <a:blip r:embed="rId3">
            <a:alphaModFix/>
          </a:blip>
          <a:srcRect b="0" l="0" r="0" t="0"/>
          <a:stretch/>
        </p:blipFill>
        <p:spPr>
          <a:xfrm>
            <a:off x="10450286" y="71919"/>
            <a:ext cx="1661019" cy="1655763"/>
          </a:xfrm>
          <a:prstGeom prst="rect">
            <a:avLst/>
          </a:prstGeom>
          <a:noFill/>
          <a:ln>
            <a:noFill/>
          </a:ln>
        </p:spPr>
      </p:pic>
      <p:pic>
        <p:nvPicPr>
          <p:cNvPr id="193" name="Google Shape;193;p28"/>
          <p:cNvPicPr preferRelativeResize="0"/>
          <p:nvPr/>
        </p:nvPicPr>
        <p:blipFill>
          <a:blip r:embed="rId4">
            <a:alphaModFix/>
          </a:blip>
          <a:stretch>
            <a:fillRect/>
          </a:stretch>
        </p:blipFill>
        <p:spPr>
          <a:xfrm>
            <a:off x="176200" y="1965075"/>
            <a:ext cx="11839575" cy="42394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9"/>
          <p:cNvSpPr txBox="1"/>
          <p:nvPr>
            <p:ph type="title"/>
          </p:nvPr>
        </p:nvSpPr>
        <p:spPr>
          <a:xfrm>
            <a:off x="2717400" y="236950"/>
            <a:ext cx="6757200" cy="1325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Literature Review</a:t>
            </a:r>
            <a:endParaRPr/>
          </a:p>
        </p:txBody>
      </p:sp>
      <p:sp>
        <p:nvSpPr>
          <p:cNvPr id="199" name="Google Shape;199;p29"/>
          <p:cNvSpPr txBox="1"/>
          <p:nvPr>
            <p:ph idx="1" type="body"/>
          </p:nvPr>
        </p:nvSpPr>
        <p:spPr>
          <a:xfrm flipH="1">
            <a:off x="13576875" y="6318275"/>
            <a:ext cx="1655400" cy="403500"/>
          </a:xfrm>
          <a:prstGeom prst="rect">
            <a:avLst/>
          </a:prstGeom>
          <a:noFill/>
          <a:ln>
            <a:noFill/>
          </a:ln>
        </p:spPr>
        <p:txBody>
          <a:bodyPr anchorCtr="0" anchor="t" bIns="45700" lIns="91425" spcFirstLastPara="1" rIns="91425" wrap="square" tIns="45700">
            <a:normAutofit lnSpcReduction="20000"/>
          </a:bodyPr>
          <a:lstStyle/>
          <a:p>
            <a:pPr indent="-50800" lvl="0" marL="228600" rtl="0" algn="l">
              <a:lnSpc>
                <a:spcPct val="90000"/>
              </a:lnSpc>
              <a:spcBef>
                <a:spcPts val="0"/>
              </a:spcBef>
              <a:spcAft>
                <a:spcPts val="0"/>
              </a:spcAft>
              <a:buClr>
                <a:schemeClr val="dk1"/>
              </a:buClr>
              <a:buSzPts val="2800"/>
              <a:buNone/>
            </a:pPr>
            <a:r>
              <a:t/>
            </a:r>
            <a:endParaRPr/>
          </a:p>
        </p:txBody>
      </p:sp>
      <p:pic>
        <p:nvPicPr>
          <p:cNvPr descr="SRM Institute of Science and Technology - Wikipedia" id="200" name="Google Shape;200;p29"/>
          <p:cNvPicPr preferRelativeResize="0"/>
          <p:nvPr/>
        </p:nvPicPr>
        <p:blipFill rotWithShape="1">
          <a:blip r:embed="rId3">
            <a:alphaModFix/>
          </a:blip>
          <a:srcRect b="0" l="0" r="0" t="0"/>
          <a:stretch/>
        </p:blipFill>
        <p:spPr>
          <a:xfrm>
            <a:off x="10450286" y="71919"/>
            <a:ext cx="1661019" cy="1655763"/>
          </a:xfrm>
          <a:prstGeom prst="rect">
            <a:avLst/>
          </a:prstGeom>
          <a:noFill/>
          <a:ln>
            <a:noFill/>
          </a:ln>
        </p:spPr>
      </p:pic>
      <p:pic>
        <p:nvPicPr>
          <p:cNvPr id="201" name="Google Shape;201;p29"/>
          <p:cNvPicPr preferRelativeResize="0"/>
          <p:nvPr/>
        </p:nvPicPr>
        <p:blipFill>
          <a:blip r:embed="rId4">
            <a:alphaModFix/>
          </a:blip>
          <a:stretch>
            <a:fillRect/>
          </a:stretch>
        </p:blipFill>
        <p:spPr>
          <a:xfrm>
            <a:off x="152400" y="1880082"/>
            <a:ext cx="11887200" cy="446958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0"/>
          <p:cNvSpPr txBox="1"/>
          <p:nvPr>
            <p:ph type="title"/>
          </p:nvPr>
        </p:nvSpPr>
        <p:spPr>
          <a:xfrm>
            <a:off x="2717400" y="236950"/>
            <a:ext cx="6757200" cy="1325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Literature Review</a:t>
            </a:r>
            <a:endParaRPr/>
          </a:p>
        </p:txBody>
      </p:sp>
      <p:sp>
        <p:nvSpPr>
          <p:cNvPr id="207" name="Google Shape;207;p30"/>
          <p:cNvSpPr txBox="1"/>
          <p:nvPr>
            <p:ph idx="1" type="body"/>
          </p:nvPr>
        </p:nvSpPr>
        <p:spPr>
          <a:xfrm rot="10800000">
            <a:off x="13243000" y="6610275"/>
            <a:ext cx="1502400" cy="361800"/>
          </a:xfrm>
          <a:prstGeom prst="rect">
            <a:avLst/>
          </a:prstGeom>
          <a:noFill/>
          <a:ln>
            <a:noFill/>
          </a:ln>
        </p:spPr>
        <p:txBody>
          <a:bodyPr anchorCtr="0" anchor="t" bIns="45700" lIns="91425" spcFirstLastPara="1" rIns="91425" wrap="square" tIns="45700">
            <a:normAutofit fontScale="85000" lnSpcReduction="20000"/>
          </a:bodyPr>
          <a:lstStyle/>
          <a:p>
            <a:pPr indent="-50800" lvl="0" marL="228600" rtl="0" algn="l">
              <a:lnSpc>
                <a:spcPct val="90000"/>
              </a:lnSpc>
              <a:spcBef>
                <a:spcPts val="0"/>
              </a:spcBef>
              <a:spcAft>
                <a:spcPts val="0"/>
              </a:spcAft>
              <a:buClr>
                <a:schemeClr val="dk1"/>
              </a:buClr>
              <a:buSzPct val="100000"/>
              <a:buNone/>
            </a:pPr>
            <a:r>
              <a:t/>
            </a:r>
            <a:endParaRPr/>
          </a:p>
        </p:txBody>
      </p:sp>
      <p:pic>
        <p:nvPicPr>
          <p:cNvPr descr="SRM Institute of Science and Technology - Wikipedia" id="208" name="Google Shape;208;p30"/>
          <p:cNvPicPr preferRelativeResize="0"/>
          <p:nvPr/>
        </p:nvPicPr>
        <p:blipFill rotWithShape="1">
          <a:blip r:embed="rId3">
            <a:alphaModFix/>
          </a:blip>
          <a:srcRect b="0" l="0" r="0" t="0"/>
          <a:stretch/>
        </p:blipFill>
        <p:spPr>
          <a:xfrm>
            <a:off x="10450286" y="71919"/>
            <a:ext cx="1661019" cy="1655763"/>
          </a:xfrm>
          <a:prstGeom prst="rect">
            <a:avLst/>
          </a:prstGeom>
          <a:noFill/>
          <a:ln>
            <a:noFill/>
          </a:ln>
        </p:spPr>
      </p:pic>
      <p:pic>
        <p:nvPicPr>
          <p:cNvPr id="209" name="Google Shape;209;p30"/>
          <p:cNvPicPr preferRelativeResize="0"/>
          <p:nvPr/>
        </p:nvPicPr>
        <p:blipFill>
          <a:blip r:embed="rId4">
            <a:alphaModFix/>
          </a:blip>
          <a:stretch>
            <a:fillRect/>
          </a:stretch>
        </p:blipFill>
        <p:spPr>
          <a:xfrm>
            <a:off x="152400" y="1880074"/>
            <a:ext cx="11877675" cy="46329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1"/>
          <p:cNvSpPr txBox="1"/>
          <p:nvPr>
            <p:ph type="title"/>
          </p:nvPr>
        </p:nvSpPr>
        <p:spPr>
          <a:xfrm>
            <a:off x="2717400" y="236950"/>
            <a:ext cx="6757200" cy="1325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Literature Review</a:t>
            </a:r>
            <a:endParaRPr/>
          </a:p>
        </p:txBody>
      </p:sp>
      <p:sp>
        <p:nvSpPr>
          <p:cNvPr id="215" name="Google Shape;215;p31"/>
          <p:cNvSpPr txBox="1"/>
          <p:nvPr>
            <p:ph idx="1" type="body"/>
          </p:nvPr>
        </p:nvSpPr>
        <p:spPr>
          <a:xfrm flipH="1">
            <a:off x="13813250" y="6568650"/>
            <a:ext cx="361800" cy="180900"/>
          </a:xfrm>
          <a:prstGeom prst="rect">
            <a:avLst/>
          </a:prstGeom>
          <a:noFill/>
          <a:ln>
            <a:noFill/>
          </a:ln>
        </p:spPr>
        <p:txBody>
          <a:bodyPr anchorCtr="0" anchor="t" bIns="45700" lIns="91425" spcFirstLastPara="1" rIns="91425" wrap="square" tIns="45700">
            <a:normAutofit fontScale="25000" lnSpcReduction="10000"/>
          </a:bodyPr>
          <a:lstStyle/>
          <a:p>
            <a:pPr indent="-50800" lvl="0" marL="228600" rtl="0" algn="l">
              <a:lnSpc>
                <a:spcPct val="90000"/>
              </a:lnSpc>
              <a:spcBef>
                <a:spcPts val="0"/>
              </a:spcBef>
              <a:spcAft>
                <a:spcPts val="0"/>
              </a:spcAft>
              <a:buClr>
                <a:schemeClr val="dk1"/>
              </a:buClr>
              <a:buSzPct val="100000"/>
              <a:buNone/>
            </a:pPr>
            <a:r>
              <a:t/>
            </a:r>
            <a:endParaRPr/>
          </a:p>
        </p:txBody>
      </p:sp>
      <p:pic>
        <p:nvPicPr>
          <p:cNvPr descr="SRM Institute of Science and Technology - Wikipedia" id="216" name="Google Shape;216;p31"/>
          <p:cNvPicPr preferRelativeResize="0"/>
          <p:nvPr/>
        </p:nvPicPr>
        <p:blipFill rotWithShape="1">
          <a:blip r:embed="rId3">
            <a:alphaModFix/>
          </a:blip>
          <a:srcRect b="0" l="0" r="0" t="0"/>
          <a:stretch/>
        </p:blipFill>
        <p:spPr>
          <a:xfrm>
            <a:off x="10450286" y="71919"/>
            <a:ext cx="1661019" cy="1655763"/>
          </a:xfrm>
          <a:prstGeom prst="rect">
            <a:avLst/>
          </a:prstGeom>
          <a:noFill/>
          <a:ln>
            <a:noFill/>
          </a:ln>
        </p:spPr>
      </p:pic>
      <p:pic>
        <p:nvPicPr>
          <p:cNvPr id="217" name="Google Shape;217;p31"/>
          <p:cNvPicPr preferRelativeResize="0"/>
          <p:nvPr/>
        </p:nvPicPr>
        <p:blipFill rotWithShape="1">
          <a:blip r:embed="rId4">
            <a:alphaModFix/>
          </a:blip>
          <a:srcRect b="0" l="0" r="0" t="2066"/>
          <a:stretch/>
        </p:blipFill>
        <p:spPr>
          <a:xfrm>
            <a:off x="152400" y="2012400"/>
            <a:ext cx="11887199" cy="23166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2"/>
          <p:cNvSpPr txBox="1"/>
          <p:nvPr>
            <p:ph type="title"/>
          </p:nvPr>
        </p:nvSpPr>
        <p:spPr>
          <a:xfrm>
            <a:off x="2446075" y="236950"/>
            <a:ext cx="6757200" cy="1325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Justification of SDGs</a:t>
            </a:r>
            <a:endParaRPr/>
          </a:p>
        </p:txBody>
      </p:sp>
      <p:sp>
        <p:nvSpPr>
          <p:cNvPr id="223" name="Google Shape;223;p32"/>
          <p:cNvSpPr txBox="1"/>
          <p:nvPr>
            <p:ph idx="1" type="body"/>
          </p:nvPr>
        </p:nvSpPr>
        <p:spPr>
          <a:xfrm flipH="1">
            <a:off x="13813250" y="6568650"/>
            <a:ext cx="361800" cy="180900"/>
          </a:xfrm>
          <a:prstGeom prst="rect">
            <a:avLst/>
          </a:prstGeom>
          <a:noFill/>
          <a:ln>
            <a:noFill/>
          </a:ln>
        </p:spPr>
        <p:txBody>
          <a:bodyPr anchorCtr="0" anchor="t" bIns="45700" lIns="91425" spcFirstLastPara="1" rIns="91425" wrap="square" tIns="45700">
            <a:normAutofit fontScale="25000" lnSpcReduction="10000"/>
          </a:bodyPr>
          <a:lstStyle/>
          <a:p>
            <a:pPr indent="-50800" lvl="0" marL="228600" rtl="0" algn="l">
              <a:lnSpc>
                <a:spcPct val="90000"/>
              </a:lnSpc>
              <a:spcBef>
                <a:spcPts val="0"/>
              </a:spcBef>
              <a:spcAft>
                <a:spcPts val="0"/>
              </a:spcAft>
              <a:buClr>
                <a:schemeClr val="dk1"/>
              </a:buClr>
              <a:buSzPct val="100000"/>
              <a:buNone/>
            </a:pPr>
            <a:r>
              <a:t/>
            </a:r>
            <a:endParaRPr/>
          </a:p>
        </p:txBody>
      </p:sp>
      <p:pic>
        <p:nvPicPr>
          <p:cNvPr descr="SRM Institute of Science and Technology - Wikipedia" id="224" name="Google Shape;224;p32"/>
          <p:cNvPicPr preferRelativeResize="0"/>
          <p:nvPr/>
        </p:nvPicPr>
        <p:blipFill rotWithShape="1">
          <a:blip r:embed="rId3">
            <a:alphaModFix/>
          </a:blip>
          <a:srcRect b="0" l="0" r="0" t="0"/>
          <a:stretch/>
        </p:blipFill>
        <p:spPr>
          <a:xfrm>
            <a:off x="10450286" y="71919"/>
            <a:ext cx="1661019" cy="1655763"/>
          </a:xfrm>
          <a:prstGeom prst="rect">
            <a:avLst/>
          </a:prstGeom>
          <a:noFill/>
          <a:ln>
            <a:noFill/>
          </a:ln>
        </p:spPr>
      </p:pic>
      <p:sp>
        <p:nvSpPr>
          <p:cNvPr id="225" name="Google Shape;225;p32"/>
          <p:cNvSpPr txBox="1"/>
          <p:nvPr>
            <p:ph idx="1" type="body"/>
          </p:nvPr>
        </p:nvSpPr>
        <p:spPr>
          <a:xfrm>
            <a:off x="838200" y="1981625"/>
            <a:ext cx="10515600" cy="4351200"/>
          </a:xfrm>
          <a:prstGeom prst="rect">
            <a:avLst/>
          </a:prstGeom>
          <a:noFill/>
          <a:ln>
            <a:noFill/>
          </a:ln>
        </p:spPr>
        <p:txBody>
          <a:bodyPr anchorCtr="0" anchor="t" bIns="45700" lIns="91425" spcFirstLastPara="1" rIns="91425" wrap="square" tIns="45700">
            <a:noAutofit/>
          </a:bodyPr>
          <a:lstStyle/>
          <a:p>
            <a:pPr indent="-355600" lvl="0" marL="457200" rtl="0" algn="just">
              <a:lnSpc>
                <a:spcPct val="107916"/>
              </a:lnSpc>
              <a:spcBef>
                <a:spcPts val="0"/>
              </a:spcBef>
              <a:spcAft>
                <a:spcPts val="0"/>
              </a:spcAft>
              <a:buClr>
                <a:srgbClr val="172B4D"/>
              </a:buClr>
              <a:buSzPts val="2000"/>
              <a:buChar char="➢"/>
            </a:pPr>
            <a:r>
              <a:rPr lang="en-US" sz="2000">
                <a:latin typeface="Arial"/>
                <a:ea typeface="Arial"/>
                <a:cs typeface="Arial"/>
                <a:sym typeface="Arial"/>
              </a:rPr>
              <a:t>1. SDG 1: </a:t>
            </a:r>
            <a:endParaRPr sz="2000">
              <a:latin typeface="Arial"/>
              <a:ea typeface="Arial"/>
              <a:cs typeface="Arial"/>
              <a:sym typeface="Arial"/>
            </a:endParaRPr>
          </a:p>
          <a:p>
            <a:pPr indent="0" lvl="0" marL="457200" rtl="0" algn="just">
              <a:lnSpc>
                <a:spcPct val="107916"/>
              </a:lnSpc>
              <a:spcBef>
                <a:spcPts val="800"/>
              </a:spcBef>
              <a:spcAft>
                <a:spcPts val="0"/>
              </a:spcAft>
              <a:buNone/>
            </a:pPr>
            <a:r>
              <a:rPr b="1" lang="en-US" sz="2000">
                <a:latin typeface="Arial"/>
                <a:ea typeface="Arial"/>
                <a:cs typeface="Arial"/>
                <a:sym typeface="Arial"/>
              </a:rPr>
              <a:t>No Poverty Project Contribution</a:t>
            </a:r>
            <a:r>
              <a:rPr lang="en-US" sz="2000">
                <a:latin typeface="Arial"/>
                <a:ea typeface="Arial"/>
                <a:cs typeface="Arial"/>
                <a:sym typeface="Arial"/>
              </a:rPr>
              <a:t>: We are developing a system that provides personalized financial advice, the project helps users manage their finances effectively, reducing the risk of financial instability and poverty. This project uses AI algorithms to suggest budgeting strategies, helping users save money and avoid financial hurdles.</a:t>
            </a:r>
            <a:endParaRPr sz="2000">
              <a:latin typeface="Arial"/>
              <a:ea typeface="Arial"/>
              <a:cs typeface="Arial"/>
              <a:sym typeface="Arial"/>
            </a:endParaRPr>
          </a:p>
          <a:p>
            <a:pPr indent="-355600" lvl="0" marL="457200" rtl="0" algn="just">
              <a:lnSpc>
                <a:spcPct val="107916"/>
              </a:lnSpc>
              <a:spcBef>
                <a:spcPts val="800"/>
              </a:spcBef>
              <a:spcAft>
                <a:spcPts val="0"/>
              </a:spcAft>
              <a:buClr>
                <a:srgbClr val="172B4D"/>
              </a:buClr>
              <a:buSzPts val="2000"/>
              <a:buChar char="➢"/>
            </a:pPr>
            <a:r>
              <a:rPr lang="en-US" sz="2000">
                <a:latin typeface="Arial"/>
                <a:ea typeface="Arial"/>
                <a:cs typeface="Arial"/>
                <a:sym typeface="Arial"/>
              </a:rPr>
              <a:t>2. SDG 2: </a:t>
            </a:r>
            <a:endParaRPr sz="2000">
              <a:latin typeface="Arial"/>
              <a:ea typeface="Arial"/>
              <a:cs typeface="Arial"/>
              <a:sym typeface="Arial"/>
            </a:endParaRPr>
          </a:p>
          <a:p>
            <a:pPr indent="0" lvl="0" marL="457200" rtl="0" algn="just">
              <a:lnSpc>
                <a:spcPct val="107916"/>
              </a:lnSpc>
              <a:spcBef>
                <a:spcPts val="800"/>
              </a:spcBef>
              <a:spcAft>
                <a:spcPts val="0"/>
              </a:spcAft>
              <a:buNone/>
            </a:pPr>
            <a:r>
              <a:rPr b="1" lang="en-US" sz="2000">
                <a:latin typeface="Arial"/>
                <a:ea typeface="Arial"/>
                <a:cs typeface="Arial"/>
                <a:sym typeface="Arial"/>
              </a:rPr>
              <a:t>Quality Education Project Contribution</a:t>
            </a:r>
            <a:r>
              <a:rPr lang="en-US" sz="2000">
                <a:latin typeface="Arial"/>
                <a:ea typeface="Arial"/>
                <a:cs typeface="Arial"/>
                <a:sym typeface="Arial"/>
              </a:rPr>
              <a:t>: Our project promotes financial literacy by educating users on their spending habits and offering financial advice. Using data analytics, this project can present financial data in an easy-to-understand format, enhancing user understanding.</a:t>
            </a:r>
            <a:endParaRPr sz="2000">
              <a:latin typeface="Arial"/>
              <a:ea typeface="Arial"/>
              <a:cs typeface="Arial"/>
              <a:sym typeface="Arial"/>
            </a:endParaRPr>
          </a:p>
          <a:p>
            <a:pPr indent="0" lvl="0" marL="457200" rtl="0" algn="just">
              <a:lnSpc>
                <a:spcPct val="107916"/>
              </a:lnSpc>
              <a:spcBef>
                <a:spcPts val="800"/>
              </a:spcBef>
              <a:spcAft>
                <a:spcPts val="0"/>
              </a:spcAft>
              <a:buNone/>
            </a:pPr>
            <a:r>
              <a:t/>
            </a:r>
            <a:endParaRPr sz="2000">
              <a:latin typeface="Arial"/>
              <a:ea typeface="Arial"/>
              <a:cs typeface="Arial"/>
              <a:sym typeface="Arial"/>
            </a:endParaRPr>
          </a:p>
          <a:p>
            <a:pPr indent="0" lvl="0" marL="457200" rtl="0" algn="just">
              <a:lnSpc>
                <a:spcPct val="107916"/>
              </a:lnSpc>
              <a:spcBef>
                <a:spcPts val="800"/>
              </a:spcBef>
              <a:spcAft>
                <a:spcPts val="0"/>
              </a:spcAft>
              <a:buNone/>
            </a:pPr>
            <a:r>
              <a:t/>
            </a:r>
            <a:endParaRPr sz="2000">
              <a:latin typeface="Arial"/>
              <a:ea typeface="Arial"/>
              <a:cs typeface="Arial"/>
              <a:sym typeface="Arial"/>
            </a:endParaRPr>
          </a:p>
          <a:p>
            <a:pPr indent="0" lvl="0" marL="457200" rtl="0" algn="just">
              <a:lnSpc>
                <a:spcPct val="107916"/>
              </a:lnSpc>
              <a:spcBef>
                <a:spcPts val="800"/>
              </a:spcBef>
              <a:spcAft>
                <a:spcPts val="800"/>
              </a:spcAft>
              <a:buNone/>
            </a:pPr>
            <a:r>
              <a:t/>
            </a:r>
            <a:endParaRPr b="1" sz="2000">
              <a:solidFill>
                <a:srgbClr val="172B4D"/>
              </a:solidFill>
              <a:highlight>
                <a:srgbClr val="FFFFFF"/>
              </a:highlight>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3"/>
          <p:cNvSpPr txBox="1"/>
          <p:nvPr>
            <p:ph type="title"/>
          </p:nvPr>
        </p:nvSpPr>
        <p:spPr>
          <a:xfrm>
            <a:off x="2446075" y="236950"/>
            <a:ext cx="6757200" cy="1325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Justification of SDGs</a:t>
            </a:r>
            <a:endParaRPr/>
          </a:p>
        </p:txBody>
      </p:sp>
      <p:sp>
        <p:nvSpPr>
          <p:cNvPr id="231" name="Google Shape;231;p33"/>
          <p:cNvSpPr txBox="1"/>
          <p:nvPr>
            <p:ph idx="1" type="body"/>
          </p:nvPr>
        </p:nvSpPr>
        <p:spPr>
          <a:xfrm flipH="1">
            <a:off x="13813250" y="6568650"/>
            <a:ext cx="361800" cy="180900"/>
          </a:xfrm>
          <a:prstGeom prst="rect">
            <a:avLst/>
          </a:prstGeom>
          <a:noFill/>
          <a:ln>
            <a:noFill/>
          </a:ln>
        </p:spPr>
        <p:txBody>
          <a:bodyPr anchorCtr="0" anchor="t" bIns="45700" lIns="91425" spcFirstLastPara="1" rIns="91425" wrap="square" tIns="45700">
            <a:normAutofit fontScale="25000" lnSpcReduction="10000"/>
          </a:bodyPr>
          <a:lstStyle/>
          <a:p>
            <a:pPr indent="-50800" lvl="0" marL="228600" rtl="0" algn="l">
              <a:lnSpc>
                <a:spcPct val="90000"/>
              </a:lnSpc>
              <a:spcBef>
                <a:spcPts val="0"/>
              </a:spcBef>
              <a:spcAft>
                <a:spcPts val="0"/>
              </a:spcAft>
              <a:buClr>
                <a:schemeClr val="dk1"/>
              </a:buClr>
              <a:buSzPct val="100000"/>
              <a:buNone/>
            </a:pPr>
            <a:r>
              <a:t/>
            </a:r>
            <a:endParaRPr/>
          </a:p>
        </p:txBody>
      </p:sp>
      <p:pic>
        <p:nvPicPr>
          <p:cNvPr descr="SRM Institute of Science and Technology - Wikipedia" id="232" name="Google Shape;232;p33"/>
          <p:cNvPicPr preferRelativeResize="0"/>
          <p:nvPr/>
        </p:nvPicPr>
        <p:blipFill rotWithShape="1">
          <a:blip r:embed="rId3">
            <a:alphaModFix/>
          </a:blip>
          <a:srcRect b="0" l="0" r="0" t="0"/>
          <a:stretch/>
        </p:blipFill>
        <p:spPr>
          <a:xfrm>
            <a:off x="10450286" y="71919"/>
            <a:ext cx="1661019" cy="1655763"/>
          </a:xfrm>
          <a:prstGeom prst="rect">
            <a:avLst/>
          </a:prstGeom>
          <a:noFill/>
          <a:ln>
            <a:noFill/>
          </a:ln>
        </p:spPr>
      </p:pic>
      <p:sp>
        <p:nvSpPr>
          <p:cNvPr id="233" name="Google Shape;233;p33"/>
          <p:cNvSpPr txBox="1"/>
          <p:nvPr>
            <p:ph idx="1" type="body"/>
          </p:nvPr>
        </p:nvSpPr>
        <p:spPr>
          <a:xfrm>
            <a:off x="838200" y="2015550"/>
            <a:ext cx="10515600" cy="4351200"/>
          </a:xfrm>
          <a:prstGeom prst="rect">
            <a:avLst/>
          </a:prstGeom>
          <a:noFill/>
          <a:ln>
            <a:noFill/>
          </a:ln>
        </p:spPr>
        <p:txBody>
          <a:bodyPr anchorCtr="0" anchor="t" bIns="45700" lIns="91425" spcFirstLastPara="1" rIns="91425" wrap="square" tIns="45700">
            <a:noAutofit/>
          </a:bodyPr>
          <a:lstStyle/>
          <a:p>
            <a:pPr indent="-355600" lvl="0" marL="457200" rtl="0" algn="just">
              <a:lnSpc>
                <a:spcPct val="107916"/>
              </a:lnSpc>
              <a:spcBef>
                <a:spcPts val="0"/>
              </a:spcBef>
              <a:spcAft>
                <a:spcPts val="0"/>
              </a:spcAft>
              <a:buClr>
                <a:srgbClr val="172B4D"/>
              </a:buClr>
              <a:buSzPts val="2000"/>
              <a:buChar char="➢"/>
            </a:pPr>
            <a:r>
              <a:rPr lang="en-US" sz="2000">
                <a:latin typeface="Arial"/>
                <a:ea typeface="Arial"/>
                <a:cs typeface="Arial"/>
                <a:sym typeface="Arial"/>
              </a:rPr>
              <a:t>3. SDG 3: </a:t>
            </a:r>
            <a:endParaRPr sz="2000">
              <a:latin typeface="Arial"/>
              <a:ea typeface="Arial"/>
              <a:cs typeface="Arial"/>
              <a:sym typeface="Arial"/>
            </a:endParaRPr>
          </a:p>
          <a:p>
            <a:pPr indent="0" lvl="0" marL="457200" rtl="0" algn="just">
              <a:lnSpc>
                <a:spcPct val="107916"/>
              </a:lnSpc>
              <a:spcBef>
                <a:spcPts val="800"/>
              </a:spcBef>
              <a:spcAft>
                <a:spcPts val="0"/>
              </a:spcAft>
              <a:buNone/>
            </a:pPr>
            <a:r>
              <a:rPr b="1" lang="en-US" sz="2000">
                <a:latin typeface="Arial"/>
                <a:ea typeface="Arial"/>
                <a:cs typeface="Arial"/>
                <a:sym typeface="Arial"/>
              </a:rPr>
              <a:t>Responsible Consumption and Production Project Contribution</a:t>
            </a:r>
            <a:r>
              <a:rPr lang="en-US" sz="2000">
                <a:latin typeface="Arial"/>
                <a:ea typeface="Arial"/>
                <a:cs typeface="Arial"/>
                <a:sym typeface="Arial"/>
              </a:rPr>
              <a:t>: Our project encourages responsible spending and saving habits. AI-driven insights and recommendations can help users understand the impact of their spending habits and make more sustainable choices.</a:t>
            </a:r>
            <a:endParaRPr sz="2000">
              <a:latin typeface="Arial"/>
              <a:ea typeface="Arial"/>
              <a:cs typeface="Arial"/>
              <a:sym typeface="Arial"/>
            </a:endParaRPr>
          </a:p>
          <a:p>
            <a:pPr indent="-355600" lvl="0" marL="457200" rtl="0" algn="just">
              <a:lnSpc>
                <a:spcPct val="107916"/>
              </a:lnSpc>
              <a:spcBef>
                <a:spcPts val="800"/>
              </a:spcBef>
              <a:spcAft>
                <a:spcPts val="0"/>
              </a:spcAft>
              <a:buClr>
                <a:srgbClr val="172B4D"/>
              </a:buClr>
              <a:buSzPts val="2000"/>
              <a:buChar char="➢"/>
            </a:pPr>
            <a:r>
              <a:rPr lang="en-US" sz="2000">
                <a:latin typeface="Arial"/>
                <a:ea typeface="Arial"/>
                <a:cs typeface="Arial"/>
                <a:sym typeface="Arial"/>
              </a:rPr>
              <a:t>4. SDG 4: </a:t>
            </a:r>
            <a:endParaRPr sz="2000">
              <a:latin typeface="Arial"/>
              <a:ea typeface="Arial"/>
              <a:cs typeface="Arial"/>
              <a:sym typeface="Arial"/>
            </a:endParaRPr>
          </a:p>
          <a:p>
            <a:pPr indent="0" lvl="0" marL="457200" rtl="0" algn="just">
              <a:lnSpc>
                <a:spcPct val="107916"/>
              </a:lnSpc>
              <a:spcBef>
                <a:spcPts val="800"/>
              </a:spcBef>
              <a:spcAft>
                <a:spcPts val="0"/>
              </a:spcAft>
              <a:buClr>
                <a:schemeClr val="dk1"/>
              </a:buClr>
              <a:buSzPts val="1100"/>
              <a:buFont typeface="Arial"/>
              <a:buNone/>
            </a:pPr>
            <a:r>
              <a:rPr b="1" lang="en-US" sz="2000">
                <a:latin typeface="Arial"/>
                <a:ea typeface="Arial"/>
                <a:cs typeface="Arial"/>
                <a:sym typeface="Arial"/>
              </a:rPr>
              <a:t>Decent Work and Economic Growth Project Contribution</a:t>
            </a:r>
            <a:r>
              <a:rPr lang="en-US" sz="2000">
                <a:latin typeface="Arial"/>
                <a:ea typeface="Arial"/>
                <a:cs typeface="Arial"/>
                <a:sym typeface="Arial"/>
              </a:rPr>
              <a:t>: Better financial management can lead to economic stability and growth for individuals, contributing to overall economic development. This project will use AI to identify investment opportunities and provide career advancement advice, supporting users' economic growth.</a:t>
            </a:r>
            <a:endParaRPr sz="2000">
              <a:latin typeface="Arial"/>
              <a:ea typeface="Arial"/>
              <a:cs typeface="Arial"/>
              <a:sym typeface="Arial"/>
            </a:endParaRPr>
          </a:p>
          <a:p>
            <a:pPr indent="0" lvl="0" marL="457200" rtl="0" algn="just">
              <a:lnSpc>
                <a:spcPct val="107916"/>
              </a:lnSpc>
              <a:spcBef>
                <a:spcPts val="800"/>
              </a:spcBef>
              <a:spcAft>
                <a:spcPts val="0"/>
              </a:spcAft>
              <a:buClr>
                <a:schemeClr val="dk1"/>
              </a:buClr>
              <a:buSzPts val="1100"/>
              <a:buFont typeface="Arial"/>
              <a:buNone/>
            </a:pPr>
            <a:r>
              <a:t/>
            </a:r>
            <a:endParaRPr sz="2000">
              <a:latin typeface="Arial"/>
              <a:ea typeface="Arial"/>
              <a:cs typeface="Arial"/>
              <a:sym typeface="Arial"/>
            </a:endParaRPr>
          </a:p>
          <a:p>
            <a:pPr indent="0" lvl="0" marL="457200" rtl="0" algn="just">
              <a:lnSpc>
                <a:spcPct val="107916"/>
              </a:lnSpc>
              <a:spcBef>
                <a:spcPts val="800"/>
              </a:spcBef>
              <a:spcAft>
                <a:spcPts val="800"/>
              </a:spcAft>
              <a:buNone/>
            </a:pPr>
            <a:r>
              <a:t/>
            </a:r>
            <a:endParaRPr b="1" sz="2000">
              <a:solidFill>
                <a:srgbClr val="172B4D"/>
              </a:solidFill>
              <a:highlight>
                <a:srgbClr val="FFFFFF"/>
              </a:highlight>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4"/>
          <p:cNvSpPr txBox="1"/>
          <p:nvPr>
            <p:ph type="title"/>
          </p:nvPr>
        </p:nvSpPr>
        <p:spPr>
          <a:xfrm>
            <a:off x="2446075" y="236950"/>
            <a:ext cx="6757200" cy="1325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Justification of SDGs</a:t>
            </a:r>
            <a:endParaRPr/>
          </a:p>
        </p:txBody>
      </p:sp>
      <p:sp>
        <p:nvSpPr>
          <p:cNvPr id="239" name="Google Shape;239;p34"/>
          <p:cNvSpPr txBox="1"/>
          <p:nvPr>
            <p:ph idx="1" type="body"/>
          </p:nvPr>
        </p:nvSpPr>
        <p:spPr>
          <a:xfrm flipH="1">
            <a:off x="13813250" y="6568650"/>
            <a:ext cx="361800" cy="180900"/>
          </a:xfrm>
          <a:prstGeom prst="rect">
            <a:avLst/>
          </a:prstGeom>
          <a:noFill/>
          <a:ln>
            <a:noFill/>
          </a:ln>
        </p:spPr>
        <p:txBody>
          <a:bodyPr anchorCtr="0" anchor="t" bIns="45700" lIns="91425" spcFirstLastPara="1" rIns="91425" wrap="square" tIns="45700">
            <a:normAutofit fontScale="25000" lnSpcReduction="10000"/>
          </a:bodyPr>
          <a:lstStyle/>
          <a:p>
            <a:pPr indent="-50800" lvl="0" marL="228600" rtl="0" algn="l">
              <a:lnSpc>
                <a:spcPct val="90000"/>
              </a:lnSpc>
              <a:spcBef>
                <a:spcPts val="0"/>
              </a:spcBef>
              <a:spcAft>
                <a:spcPts val="0"/>
              </a:spcAft>
              <a:buClr>
                <a:schemeClr val="dk1"/>
              </a:buClr>
              <a:buSzPct val="100000"/>
              <a:buNone/>
            </a:pPr>
            <a:r>
              <a:t/>
            </a:r>
            <a:endParaRPr/>
          </a:p>
        </p:txBody>
      </p:sp>
      <p:pic>
        <p:nvPicPr>
          <p:cNvPr descr="SRM Institute of Science and Technology - Wikipedia" id="240" name="Google Shape;240;p34"/>
          <p:cNvPicPr preferRelativeResize="0"/>
          <p:nvPr/>
        </p:nvPicPr>
        <p:blipFill rotWithShape="1">
          <a:blip r:embed="rId3">
            <a:alphaModFix/>
          </a:blip>
          <a:srcRect b="0" l="0" r="0" t="0"/>
          <a:stretch/>
        </p:blipFill>
        <p:spPr>
          <a:xfrm>
            <a:off x="10450286" y="71919"/>
            <a:ext cx="1661019" cy="1655763"/>
          </a:xfrm>
          <a:prstGeom prst="rect">
            <a:avLst/>
          </a:prstGeom>
          <a:noFill/>
          <a:ln>
            <a:noFill/>
          </a:ln>
        </p:spPr>
      </p:pic>
      <p:sp>
        <p:nvSpPr>
          <p:cNvPr id="241" name="Google Shape;241;p34"/>
          <p:cNvSpPr txBox="1"/>
          <p:nvPr>
            <p:ph idx="1" type="body"/>
          </p:nvPr>
        </p:nvSpPr>
        <p:spPr>
          <a:xfrm>
            <a:off x="838200" y="1988425"/>
            <a:ext cx="10515600" cy="4351200"/>
          </a:xfrm>
          <a:prstGeom prst="rect">
            <a:avLst/>
          </a:prstGeom>
          <a:noFill/>
          <a:ln>
            <a:noFill/>
          </a:ln>
        </p:spPr>
        <p:txBody>
          <a:bodyPr anchorCtr="0" anchor="t" bIns="45700" lIns="91425" spcFirstLastPara="1" rIns="91425" wrap="square" tIns="45700">
            <a:noAutofit/>
          </a:bodyPr>
          <a:lstStyle/>
          <a:p>
            <a:pPr indent="-355600" lvl="0" marL="457200" rtl="0" algn="just">
              <a:lnSpc>
                <a:spcPct val="107916"/>
              </a:lnSpc>
              <a:spcBef>
                <a:spcPts val="0"/>
              </a:spcBef>
              <a:spcAft>
                <a:spcPts val="0"/>
              </a:spcAft>
              <a:buClr>
                <a:srgbClr val="172B4D"/>
              </a:buClr>
              <a:buSzPts val="2000"/>
              <a:buChar char="➢"/>
            </a:pPr>
            <a:r>
              <a:rPr lang="en-US" sz="2000">
                <a:latin typeface="Arial"/>
                <a:ea typeface="Arial"/>
                <a:cs typeface="Arial"/>
                <a:sym typeface="Arial"/>
              </a:rPr>
              <a:t>5. SDG 5: </a:t>
            </a:r>
            <a:endParaRPr sz="2000">
              <a:latin typeface="Arial"/>
              <a:ea typeface="Arial"/>
              <a:cs typeface="Arial"/>
              <a:sym typeface="Arial"/>
            </a:endParaRPr>
          </a:p>
          <a:p>
            <a:pPr indent="0" lvl="0" marL="457200" rtl="0" algn="just">
              <a:lnSpc>
                <a:spcPct val="107916"/>
              </a:lnSpc>
              <a:spcBef>
                <a:spcPts val="800"/>
              </a:spcBef>
              <a:spcAft>
                <a:spcPts val="0"/>
              </a:spcAft>
              <a:buNone/>
            </a:pPr>
            <a:r>
              <a:rPr b="1" lang="en-US" sz="2000">
                <a:latin typeface="Arial"/>
                <a:ea typeface="Arial"/>
                <a:cs typeface="Arial"/>
                <a:sym typeface="Arial"/>
              </a:rPr>
              <a:t>Good Health and Well-being Project Contribution</a:t>
            </a:r>
            <a:r>
              <a:rPr lang="en-US" sz="2000">
                <a:latin typeface="Arial"/>
                <a:ea typeface="Arial"/>
                <a:cs typeface="Arial"/>
                <a:sym typeface="Arial"/>
              </a:rPr>
              <a:t>: Financial stress can lead to mental health issues. This project aims to reduce financial stress by providing users with tools to better manage their finances. Implementing machine learning model to predict and alert users about potential financial issues can help them take proactive measures, thereby reducing stress.</a:t>
            </a:r>
            <a:endParaRPr sz="2000">
              <a:latin typeface="Arial"/>
              <a:ea typeface="Arial"/>
              <a:cs typeface="Arial"/>
              <a:sym typeface="Arial"/>
            </a:endParaRPr>
          </a:p>
          <a:p>
            <a:pPr indent="-355600" lvl="0" marL="457200" rtl="0" algn="just">
              <a:lnSpc>
                <a:spcPct val="107916"/>
              </a:lnSpc>
              <a:spcBef>
                <a:spcPts val="800"/>
              </a:spcBef>
              <a:spcAft>
                <a:spcPts val="0"/>
              </a:spcAft>
              <a:buClr>
                <a:srgbClr val="172B4D"/>
              </a:buClr>
              <a:buSzPts val="2000"/>
              <a:buChar char="➢"/>
            </a:pPr>
            <a:r>
              <a:rPr lang="en-US" sz="2000">
                <a:latin typeface="Arial"/>
                <a:ea typeface="Arial"/>
                <a:cs typeface="Arial"/>
                <a:sym typeface="Arial"/>
              </a:rPr>
              <a:t>6. SDG 6: </a:t>
            </a:r>
            <a:endParaRPr sz="2000">
              <a:latin typeface="Arial"/>
              <a:ea typeface="Arial"/>
              <a:cs typeface="Arial"/>
              <a:sym typeface="Arial"/>
            </a:endParaRPr>
          </a:p>
          <a:p>
            <a:pPr indent="0" lvl="0" marL="457200" rtl="0" algn="just">
              <a:lnSpc>
                <a:spcPct val="107916"/>
              </a:lnSpc>
              <a:spcBef>
                <a:spcPts val="800"/>
              </a:spcBef>
              <a:spcAft>
                <a:spcPts val="0"/>
              </a:spcAft>
              <a:buNone/>
            </a:pPr>
            <a:r>
              <a:rPr b="1" lang="en-US" sz="2000">
                <a:latin typeface="Arial"/>
                <a:ea typeface="Arial"/>
                <a:cs typeface="Arial"/>
                <a:sym typeface="Arial"/>
              </a:rPr>
              <a:t>Reduced Inequalities Project Contribution</a:t>
            </a:r>
            <a:r>
              <a:rPr lang="en-US" sz="2000">
                <a:latin typeface="Arial"/>
                <a:ea typeface="Arial"/>
                <a:cs typeface="Arial"/>
                <a:sym typeface="Arial"/>
              </a:rPr>
              <a:t>: By making the access to financial advice, the project helps reduce economic inequalities. The use of cloud computing (AWS) and scalable AI model ensures that the service can be made accessible to a wide audience, regardless of their socio-economic status.</a:t>
            </a:r>
            <a:endParaRPr sz="2000">
              <a:latin typeface="Arial"/>
              <a:ea typeface="Arial"/>
              <a:cs typeface="Arial"/>
              <a:sym typeface="Arial"/>
            </a:endParaRPr>
          </a:p>
          <a:p>
            <a:pPr indent="0" lvl="0" marL="457200" rtl="0" algn="just">
              <a:lnSpc>
                <a:spcPct val="107916"/>
              </a:lnSpc>
              <a:spcBef>
                <a:spcPts val="800"/>
              </a:spcBef>
              <a:spcAft>
                <a:spcPts val="0"/>
              </a:spcAft>
              <a:buNone/>
            </a:pPr>
            <a:r>
              <a:t/>
            </a:r>
            <a:endParaRPr sz="2000">
              <a:latin typeface="Arial"/>
              <a:ea typeface="Arial"/>
              <a:cs typeface="Arial"/>
              <a:sym typeface="Arial"/>
            </a:endParaRPr>
          </a:p>
          <a:p>
            <a:pPr indent="0" lvl="0" marL="457200" rtl="0" algn="just">
              <a:lnSpc>
                <a:spcPct val="107916"/>
              </a:lnSpc>
              <a:spcBef>
                <a:spcPts val="800"/>
              </a:spcBef>
              <a:spcAft>
                <a:spcPts val="800"/>
              </a:spcAft>
              <a:buNone/>
            </a:pPr>
            <a:r>
              <a:t/>
            </a:r>
            <a:endParaRPr b="1" sz="2000">
              <a:solidFill>
                <a:srgbClr val="172B4D"/>
              </a:solidFill>
              <a:highlight>
                <a:srgbClr val="FFFFFF"/>
              </a:highlight>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5"/>
          <p:cNvSpPr txBox="1"/>
          <p:nvPr>
            <p:ph type="title"/>
          </p:nvPr>
        </p:nvSpPr>
        <p:spPr>
          <a:xfrm>
            <a:off x="2717400" y="236950"/>
            <a:ext cx="67572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Project Timeline</a:t>
            </a:r>
            <a:endParaRPr/>
          </a:p>
        </p:txBody>
      </p:sp>
      <p:sp>
        <p:nvSpPr>
          <p:cNvPr id="247" name="Google Shape;247;p35"/>
          <p:cNvSpPr txBox="1"/>
          <p:nvPr>
            <p:ph idx="1" type="body"/>
          </p:nvPr>
        </p:nvSpPr>
        <p:spPr>
          <a:xfrm flipH="1">
            <a:off x="13340400" y="6429550"/>
            <a:ext cx="1279800" cy="166800"/>
          </a:xfrm>
          <a:prstGeom prst="rect">
            <a:avLst/>
          </a:prstGeom>
          <a:noFill/>
          <a:ln>
            <a:noFill/>
          </a:ln>
        </p:spPr>
        <p:txBody>
          <a:bodyPr anchorCtr="0" anchor="t" bIns="45700" lIns="91425" spcFirstLastPara="1" rIns="91425" wrap="square" tIns="45700">
            <a:normAutofit fontScale="25000" lnSpcReduction="20000"/>
          </a:bodyPr>
          <a:lstStyle/>
          <a:p>
            <a:pPr indent="-50800" lvl="0" marL="228600" rtl="0" algn="l">
              <a:lnSpc>
                <a:spcPct val="90000"/>
              </a:lnSpc>
              <a:spcBef>
                <a:spcPts val="0"/>
              </a:spcBef>
              <a:spcAft>
                <a:spcPts val="0"/>
              </a:spcAft>
              <a:buClr>
                <a:schemeClr val="dk1"/>
              </a:buClr>
              <a:buSzPct val="100000"/>
              <a:buNone/>
            </a:pPr>
            <a:r>
              <a:t/>
            </a:r>
            <a:endParaRPr/>
          </a:p>
        </p:txBody>
      </p:sp>
      <p:pic>
        <p:nvPicPr>
          <p:cNvPr descr="SRM Institute of Science and Technology - Wikipedia" id="248" name="Google Shape;248;p35"/>
          <p:cNvPicPr preferRelativeResize="0"/>
          <p:nvPr/>
        </p:nvPicPr>
        <p:blipFill rotWithShape="1">
          <a:blip r:embed="rId3">
            <a:alphaModFix/>
          </a:blip>
          <a:srcRect b="0" l="0" r="0" t="0"/>
          <a:stretch/>
        </p:blipFill>
        <p:spPr>
          <a:xfrm>
            <a:off x="10450286" y="71919"/>
            <a:ext cx="1661019" cy="1655763"/>
          </a:xfrm>
          <a:prstGeom prst="rect">
            <a:avLst/>
          </a:prstGeom>
          <a:noFill/>
          <a:ln>
            <a:noFill/>
          </a:ln>
        </p:spPr>
      </p:pic>
      <p:pic>
        <p:nvPicPr>
          <p:cNvPr id="249" name="Google Shape;249;p35"/>
          <p:cNvPicPr preferRelativeResize="0"/>
          <p:nvPr/>
        </p:nvPicPr>
        <p:blipFill>
          <a:blip r:embed="rId4">
            <a:alphaModFix/>
          </a:blip>
          <a:stretch>
            <a:fillRect/>
          </a:stretch>
        </p:blipFill>
        <p:spPr>
          <a:xfrm>
            <a:off x="973750" y="1199100"/>
            <a:ext cx="8347526" cy="5883025"/>
          </a:xfrm>
          <a:prstGeom prst="rect">
            <a:avLst/>
          </a:prstGeom>
          <a:noFill/>
          <a:ln>
            <a:noFill/>
          </a:ln>
        </p:spPr>
      </p:pic>
      <p:pic>
        <p:nvPicPr>
          <p:cNvPr id="250" name="Google Shape;250;p35"/>
          <p:cNvPicPr preferRelativeResize="0"/>
          <p:nvPr/>
        </p:nvPicPr>
        <p:blipFill>
          <a:blip r:embed="rId5">
            <a:alphaModFix/>
          </a:blip>
          <a:stretch>
            <a:fillRect/>
          </a:stretch>
        </p:blipFill>
        <p:spPr>
          <a:xfrm>
            <a:off x="9047575" y="1684375"/>
            <a:ext cx="561150" cy="3245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6"/>
          <p:cNvSpPr txBox="1"/>
          <p:nvPr>
            <p:ph type="title"/>
          </p:nvPr>
        </p:nvSpPr>
        <p:spPr>
          <a:xfrm>
            <a:off x="2717400" y="169013"/>
            <a:ext cx="67572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Conclusion</a:t>
            </a:r>
            <a:endParaRPr/>
          </a:p>
        </p:txBody>
      </p:sp>
      <p:pic>
        <p:nvPicPr>
          <p:cNvPr descr="SRM Institute of Science and Technology - Wikipedia" id="256" name="Google Shape;256;p36"/>
          <p:cNvPicPr preferRelativeResize="0"/>
          <p:nvPr/>
        </p:nvPicPr>
        <p:blipFill rotWithShape="1">
          <a:blip r:embed="rId3">
            <a:alphaModFix/>
          </a:blip>
          <a:srcRect b="0" l="0" r="0" t="0"/>
          <a:stretch/>
        </p:blipFill>
        <p:spPr>
          <a:xfrm>
            <a:off x="10545750" y="71925"/>
            <a:ext cx="1565550" cy="1560600"/>
          </a:xfrm>
          <a:prstGeom prst="rect">
            <a:avLst/>
          </a:prstGeom>
          <a:noFill/>
          <a:ln>
            <a:noFill/>
          </a:ln>
        </p:spPr>
      </p:pic>
      <p:sp>
        <p:nvSpPr>
          <p:cNvPr id="257" name="Google Shape;257;p36"/>
          <p:cNvSpPr txBox="1"/>
          <p:nvPr>
            <p:ph idx="1" type="body"/>
          </p:nvPr>
        </p:nvSpPr>
        <p:spPr>
          <a:xfrm>
            <a:off x="350475" y="1863350"/>
            <a:ext cx="10968600" cy="4351200"/>
          </a:xfrm>
          <a:prstGeom prst="rect">
            <a:avLst/>
          </a:prstGeom>
          <a:noFill/>
          <a:ln>
            <a:noFill/>
          </a:ln>
        </p:spPr>
        <p:txBody>
          <a:bodyPr anchorCtr="0" anchor="t" bIns="45700" lIns="91425" spcFirstLastPara="1" rIns="91425" wrap="square" tIns="45700">
            <a:noAutofit/>
          </a:bodyPr>
          <a:lstStyle/>
          <a:p>
            <a:pPr indent="0" lvl="0" marL="457200" rtl="0" algn="just">
              <a:lnSpc>
                <a:spcPct val="107916"/>
              </a:lnSpc>
              <a:spcBef>
                <a:spcPts val="0"/>
              </a:spcBef>
              <a:spcAft>
                <a:spcPts val="0"/>
              </a:spcAft>
              <a:buNone/>
            </a:pPr>
            <a:r>
              <a:rPr lang="en-US" sz="2000">
                <a:latin typeface="Arial"/>
                <a:ea typeface="Arial"/>
                <a:cs typeface="Arial"/>
                <a:sym typeface="Arial"/>
              </a:rPr>
              <a:t>  In summary, AI-powered personal financial advisors are changing the way we manage our finances by making financial advice more accessible and cost-effective. These systems use advanced technology to provide personalized investment strategies and ongoing support. However, challenges remain, including ensuring that these systems are fair and trustworthy. Future research and improvements can help address these issues and make AI-powered financial advisors more effective and trustworthy for users. In the future, the development of AI-powered personal financial advisors has the potential to grow even more. </a:t>
            </a:r>
            <a:endParaRPr sz="2000">
              <a:latin typeface="Arial"/>
              <a:ea typeface="Arial"/>
              <a:cs typeface="Arial"/>
              <a:sym typeface="Arial"/>
            </a:endParaRPr>
          </a:p>
          <a:p>
            <a:pPr indent="0" lvl="0" marL="457200" rtl="0" algn="just">
              <a:lnSpc>
                <a:spcPct val="107916"/>
              </a:lnSpc>
              <a:spcBef>
                <a:spcPts val="800"/>
              </a:spcBef>
              <a:spcAft>
                <a:spcPts val="0"/>
              </a:spcAft>
              <a:buNone/>
            </a:pPr>
            <a:r>
              <a:rPr lang="en-US" sz="2000">
                <a:latin typeface="Arial"/>
                <a:ea typeface="Arial"/>
                <a:cs typeface="Arial"/>
                <a:sym typeface="Arial"/>
              </a:rPr>
              <a:t> As technology advances, we can expect these systems to become even more sophisticated, offering greater personalization and more accurate financial forecasting. Additionally, addressing regulatory and ethical concerns will be important to ensure that these tools are both effective and trustworthy. By focusing on these areas, we can improve the value and credibility of AI-powered financial advisors, making them an even more valuable resource for managing personal finances.</a:t>
            </a:r>
            <a:endParaRPr sz="2000">
              <a:latin typeface="Arial"/>
              <a:ea typeface="Arial"/>
              <a:cs typeface="Arial"/>
              <a:sym typeface="Arial"/>
            </a:endParaRPr>
          </a:p>
          <a:p>
            <a:pPr indent="0" lvl="0" marL="457200" rtl="0" algn="just">
              <a:lnSpc>
                <a:spcPct val="107916"/>
              </a:lnSpc>
              <a:spcBef>
                <a:spcPts val="800"/>
              </a:spcBef>
              <a:spcAft>
                <a:spcPts val="0"/>
              </a:spcAft>
              <a:buNone/>
            </a:pPr>
            <a:r>
              <a:t/>
            </a:r>
            <a:endParaRPr sz="2000">
              <a:latin typeface="Arial"/>
              <a:ea typeface="Arial"/>
              <a:cs typeface="Arial"/>
              <a:sym typeface="Arial"/>
            </a:endParaRPr>
          </a:p>
          <a:p>
            <a:pPr indent="0" lvl="0" marL="457200" rtl="0" algn="just">
              <a:lnSpc>
                <a:spcPct val="107916"/>
              </a:lnSpc>
              <a:spcBef>
                <a:spcPts val="800"/>
              </a:spcBef>
              <a:spcAft>
                <a:spcPts val="800"/>
              </a:spcAft>
              <a:buNone/>
            </a:pPr>
            <a:r>
              <a:t/>
            </a:r>
            <a:endParaRPr b="1" sz="2000">
              <a:solidFill>
                <a:srgbClr val="172B4D"/>
              </a:solidFill>
              <a:highlight>
                <a:srgbClr val="FFFFFF"/>
              </a:highlight>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